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1"/>
  </p:sldMasterIdLst>
  <p:sldIdLst>
    <p:sldId id="256" r:id="rId2"/>
    <p:sldId id="257" r:id="rId3"/>
    <p:sldId id="258" r:id="rId4"/>
    <p:sldId id="259" r:id="rId5"/>
    <p:sldId id="260" r:id="rId6"/>
    <p:sldId id="266" r:id="rId7"/>
    <p:sldId id="261" r:id="rId8"/>
    <p:sldId id="262" r:id="rId9"/>
    <p:sldId id="263" r:id="rId10"/>
    <p:sldId id="264" r:id="rId11"/>
    <p:sldId id="267" r:id="rId12"/>
    <p:sldId id="270" r:id="rId13"/>
    <p:sldId id="265" r:id="rId14"/>
    <p:sldId id="268" r:id="rId15"/>
    <p:sldId id="269"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37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fld id="{1D8BD707-D9CF-40AE-B4C6-C98DA3205C09}" type="datetimeFigureOut">
              <a:rPr lang="en-US" smtClean="0"/>
              <a:pPr/>
              <a:t>28/09/2021</a:t>
            </a:fld>
            <a:endParaRPr lang="en-US"/>
          </a:p>
        </p:txBody>
      </p:sp>
      <p:sp>
        <p:nvSpPr>
          <p:cNvPr id="11" name="Slide Number Placeholder 10"/>
          <p:cNvSpPr>
            <a:spLocks noGrp="1"/>
          </p:cNvSpPr>
          <p:nvPr>
            <p:ph type="sldNum" sz="quarter" idx="11"/>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12" name="Footer Placeholder 11"/>
          <p:cNvSpPr>
            <a:spLocks noGrp="1"/>
          </p:cNvSpPr>
          <p:nvPr>
            <p:ph type="ftr" sz="quarter" idx="12"/>
          </p:nvPr>
        </p:nvSpPr>
        <p:spPr/>
        <p:txBody>
          <a:bodyPr/>
          <a:lstStyle>
            <a:lvl1pPr>
              <a:defRPr>
                <a:solidFill>
                  <a:schemeClr val="bg2"/>
                </a:solidFill>
              </a:defRPr>
            </a:lvl1pPr>
          </a:lstStyle>
          <a:p>
            <a:endParaRPr lang="en-US"/>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smtClean="0"/>
              <a:t>Click to edit Master title style</a:t>
            </a:r>
            <a:endParaRPr 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28/09/2021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fld id="{1D8BD707-D9CF-40AE-B4C6-C98DA3205C09}" type="datetimeFigureOut">
              <a:rPr lang="en-US" smtClean="0"/>
              <a:pPr/>
              <a:t>28/09/2021</a:t>
            </a:fld>
            <a:endParaRPr lang="en-US"/>
          </a:p>
        </p:txBody>
      </p:sp>
      <p:sp>
        <p:nvSpPr>
          <p:cNvPr id="10" name="Slide Number Placeholder 9"/>
          <p:cNvSpPr>
            <a:spLocks noGrp="1"/>
          </p:cNvSpPr>
          <p:nvPr>
            <p:ph type="sldNum" sz="quarter" idx="11"/>
          </p:nvPr>
        </p:nvSpPr>
        <p:spPr/>
        <p:txBody>
          <a:bodyPr/>
          <a:lstStyle>
            <a:lvl1pPr>
              <a:defRPr>
                <a:solidFill>
                  <a:schemeClr val="bg2"/>
                </a:solidFill>
              </a:defRPr>
            </a:lvl1pPr>
          </a:lstStyle>
          <a:p>
            <a:fld id="{B6F15528-21DE-4FAA-801E-634DDDAF4B2B}" type="slidenum">
              <a:rPr lang="en-US" smtClean="0"/>
              <a:pPr/>
              <a:t>‹#›</a:t>
            </a:fld>
            <a:endParaRPr lang="en-US"/>
          </a:p>
        </p:txBody>
      </p:sp>
      <p:sp>
        <p:nvSpPr>
          <p:cNvPr id="11" name="Footer Placeholder 10"/>
          <p:cNvSpPr>
            <a:spLocks noGrp="1"/>
          </p:cNvSpPr>
          <p:nvPr>
            <p:ph type="ftr" sz="quarter" idx="12"/>
          </p:nvPr>
        </p:nvSpPr>
        <p:spPr/>
        <p:txBody>
          <a:bodyPr/>
          <a:lstStyle>
            <a:lvl1pPr>
              <a:defRPr>
                <a:solidFill>
                  <a:srgbClr val="FFFFFF"/>
                </a:solidFill>
              </a:defRPr>
            </a:lvl1pPr>
          </a:lstStyle>
          <a:p>
            <a:endParaRPr lang="en-US"/>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smtClean="0"/>
              <a:t>Click to edit Master title style</a:t>
            </a:r>
            <a:endParaRPr 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28/09/2021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28/09/2021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Title 9"/>
          <p:cNvSpPr>
            <a:spLocks noGrp="1"/>
          </p:cNvSpPr>
          <p:nvPr>
            <p:ph type="title"/>
          </p:nvPr>
        </p:nvSpPr>
        <p:spPr/>
        <p:txBody>
          <a:bodyPr/>
          <a:lstStyle/>
          <a:p>
            <a:r>
              <a:rPr lang="en-US" smtClean="0"/>
              <a:t>Click to edit Master title style</a:t>
            </a:r>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28/09/2021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1D8BD707-D9CF-40AE-B4C6-C98DA3205C09}" type="datetimeFigureOut">
              <a:rPr lang="en-US" smtClean="0"/>
              <a:pPr/>
              <a:t>28/09/2021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28/09/2021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fld id="{B6F15528-21DE-4FAA-801E-634DDDAF4B2B}" type="slidenum">
              <a:rPr lang="en-US" smtClean="0"/>
              <a:pPr/>
              <a:t>‹#›</a:t>
            </a:fld>
            <a:endParaRPr lang="en-US"/>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smtClean="0"/>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28/09/2021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smtClean="0"/>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28/09/2021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28/09/2021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fld id="{1D8BD707-D9CF-40AE-B4C6-C98DA3205C09}" type="datetimeFigureOut">
              <a:rPr lang="en-US" smtClean="0"/>
              <a:pPr/>
              <a:t>28/09/2021</a:t>
            </a:fld>
            <a:endParaRPr lang="en-US"/>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endParaRPr lang="en-US"/>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mc:AlternateContent xmlns:mc="http://schemas.openxmlformats.org/markup-compatibility/2006">
    <mc:Choice xmlns:p14="http://schemas.microsoft.com/office/powerpoint/2010/main" Requires="p14">
      <p:transition p14:dur="0"/>
    </mc:Choice>
    <mc:Fallback>
      <p:transition/>
    </mc:Fallback>
  </mc:AlternateConten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medium.com/flutter-io/what-weve-learned-from-the-july-2018-flutter-user-survey-cbbf1e04370c"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pub.dartlang.org/packages/firebase_cor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ppinventiv.com/blog/flutter-setting-app-development-trends/" TargetMode="External"/><Relationship Id="rId2" Type="http://schemas.openxmlformats.org/officeDocument/2006/relationships/hyperlink" Target="https://codewithandrea.com/articles/migrating-flutter-firebase-app-null-safety/" TargetMode="External"/><Relationship Id="rId1" Type="http://schemas.openxmlformats.org/officeDocument/2006/relationships/slideLayout" Target="../slideLayouts/slideLayout2.xml"/><Relationship Id="rId5" Type="http://schemas.openxmlformats.org/officeDocument/2006/relationships/hyperlink" Target="https://firebase.google.com/docs/flutter/setup?platform=ios" TargetMode="External"/><Relationship Id="rId4" Type="http://schemas.openxmlformats.org/officeDocument/2006/relationships/hyperlink" Target="https://www.angularminds.com/blog/article/top-apps-built-with-flutter.html"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95400"/>
            <a:ext cx="6324600" cy="1828800"/>
          </a:xfrm>
        </p:spPr>
        <p:txBody>
          <a:bodyPr/>
          <a:lstStyle/>
          <a:p>
            <a:pPr algn="ctr"/>
            <a:r>
              <a:rPr lang="en-US" dirty="0" smtClean="0"/>
              <a:t>Deployment of  app using Google cloud platform (GCP)</a:t>
            </a:r>
            <a:endParaRPr lang="en-US" dirty="0"/>
          </a:p>
        </p:txBody>
      </p:sp>
      <p:sp>
        <p:nvSpPr>
          <p:cNvPr id="5" name="Rectangle 4"/>
          <p:cNvSpPr/>
          <p:nvPr/>
        </p:nvSpPr>
        <p:spPr>
          <a:xfrm>
            <a:off x="1371600" y="3200399"/>
            <a:ext cx="4495800" cy="338554"/>
          </a:xfrm>
          <a:prstGeom prst="rect">
            <a:avLst/>
          </a:prstGeom>
          <a:noFill/>
          <a:ln>
            <a:noFill/>
          </a:ln>
        </p:spPr>
        <p:txBody>
          <a:bodyPr wrap="square" lIns="91440" tIns="45720" rIns="91440" bIns="45720">
            <a:spAutoFit/>
          </a:bodyPr>
          <a:lstStyle/>
          <a:p>
            <a:pPr algn="ctr"/>
            <a:r>
              <a:rPr lang="en-US" sz="1600" dirty="0" smtClean="0">
                <a:ln w="12700">
                  <a:solidFill>
                    <a:schemeClr val="bg1"/>
                  </a:solidFill>
                  <a:prstDash val="solid"/>
                </a:ln>
                <a:solidFill>
                  <a:schemeClr val="bg1"/>
                </a:solidFill>
                <a:latin typeface="Arial" pitchFamily="34" charset="0"/>
                <a:cs typeface="Arial" pitchFamily="34" charset="0"/>
              </a:rPr>
              <a:t>Framework : Flutter         Backend: Firebase</a:t>
            </a:r>
            <a:endParaRPr lang="en-US" sz="1600" cap="none" spc="0" dirty="0">
              <a:ln w="12700">
                <a:solidFill>
                  <a:schemeClr val="bg1"/>
                </a:solidFill>
                <a:prstDash val="solid"/>
              </a:ln>
              <a:solidFill>
                <a:schemeClr val="bg1"/>
              </a:solidFill>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3733800"/>
            <a:ext cx="5486400" cy="2795451"/>
          </a:xfrm>
          <a:prstGeom prst="rect">
            <a:avLst/>
          </a:prstGeom>
        </p:spPr>
      </p:pic>
      <p:sp>
        <p:nvSpPr>
          <p:cNvPr id="8" name="Rectangle 7"/>
          <p:cNvSpPr/>
          <p:nvPr/>
        </p:nvSpPr>
        <p:spPr>
          <a:xfrm>
            <a:off x="3214255" y="4419600"/>
            <a:ext cx="3908538" cy="1200329"/>
          </a:xfrm>
          <a:prstGeom prst="rect">
            <a:avLst/>
          </a:prstGeom>
          <a:noFill/>
        </p:spPr>
        <p:txBody>
          <a:bodyPr wrap="square" lIns="91440" tIns="45720" rIns="91440" bIns="45720">
            <a:spAutoFit/>
          </a:bodyPr>
          <a:lstStyle/>
          <a:p>
            <a:r>
              <a:rPr lang="en-US" sz="2400" b="1" cap="none" spc="0"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Presented by –</a:t>
            </a:r>
          </a:p>
          <a:p>
            <a:r>
              <a:rPr lang="en-US" sz="2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Dhiraj Ravindra Bodake</a:t>
            </a:r>
          </a:p>
          <a:p>
            <a:r>
              <a:rPr lang="en-US" sz="2400" b="1" cap="none" spc="0"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18141216</a:t>
            </a:r>
            <a:endParaRPr lang="en-US" sz="2400" b="1" cap="none" spc="0"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46636756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0999" y="1719070"/>
            <a:ext cx="8407893" cy="4529329"/>
          </a:xfrm>
        </p:spPr>
        <p:txBody>
          <a:bodyPr>
            <a:normAutofit fontScale="92500" lnSpcReduction="10000"/>
          </a:bodyPr>
          <a:lstStyle/>
          <a:p>
            <a:pPr algn="just"/>
            <a:r>
              <a:rPr lang="en-US" sz="2600" b="1" dirty="0" smtClean="0">
                <a:solidFill>
                  <a:schemeClr val="tx1">
                    <a:lumMod val="75000"/>
                    <a:lumOff val="25000"/>
                  </a:schemeClr>
                </a:solidFill>
              </a:rPr>
              <a:t>GCP(Google cloud platform):</a:t>
            </a:r>
          </a:p>
          <a:p>
            <a:pPr algn="just"/>
            <a:endParaRPr lang="en-US" sz="2600" b="1" dirty="0" smtClean="0">
              <a:solidFill>
                <a:schemeClr val="tx1">
                  <a:lumMod val="75000"/>
                  <a:lumOff val="25000"/>
                </a:schemeClr>
              </a:solidFill>
            </a:endParaRPr>
          </a:p>
          <a:p>
            <a:pPr algn="just"/>
            <a:r>
              <a:rPr lang="en-US" dirty="0" smtClean="0"/>
              <a:t>Google </a:t>
            </a:r>
            <a:r>
              <a:rPr lang="en-US" dirty="0"/>
              <a:t>Cloud Platform is a suite of </a:t>
            </a:r>
            <a:r>
              <a:rPr lang="en-US" dirty="0" smtClean="0"/>
              <a:t>Public cloud</a:t>
            </a:r>
            <a:r>
              <a:rPr lang="en-US" dirty="0"/>
              <a:t> computing services offered by Google. The platform includes a range of hosted services for compute, storage and application development that run on Google hardware. Google Cloud Platform services can be accessed by software developers, cloud administrators and other enterprise IT professionals over the public internet or through a dedicated network connection</a:t>
            </a:r>
            <a:r>
              <a:rPr lang="en-US" dirty="0" smtClean="0"/>
              <a:t>.</a:t>
            </a:r>
            <a:r>
              <a:rPr lang="en-US" dirty="0"/>
              <a:t> Google Cloud Platform is a suite of </a:t>
            </a:r>
            <a:r>
              <a:rPr lang="en-US" dirty="0" smtClean="0"/>
              <a:t>Public cloud</a:t>
            </a:r>
            <a:r>
              <a:rPr lang="en-US" dirty="0"/>
              <a:t> computing services offered by Google. The platform includes a range of hosted services for compute, storage and application development that run on Google hardware. Google Cloud Platform services can be accessed by software developers, cloud administrators and other enterprise IT professionals over the public internet or through a dedicated network connection.</a:t>
            </a:r>
            <a:endParaRPr lang="en-US" dirty="0"/>
          </a:p>
        </p:txBody>
      </p:sp>
      <p:sp>
        <p:nvSpPr>
          <p:cNvPr id="2" name="Title 1"/>
          <p:cNvSpPr>
            <a:spLocks noGrp="1"/>
          </p:cNvSpPr>
          <p:nvPr>
            <p:ph type="title"/>
          </p:nvPr>
        </p:nvSpPr>
        <p:spPr/>
        <p:txBody>
          <a:bodyPr/>
          <a:lstStyle/>
          <a:p>
            <a:r>
              <a:rPr lang="en-US" dirty="0" smtClean="0"/>
              <a:t>Introduction </a:t>
            </a:r>
            <a:endParaRPr lang="en-US" dirty="0"/>
          </a:p>
        </p:txBody>
      </p:sp>
    </p:spTree>
    <p:extLst>
      <p:ext uri="{BB962C8B-B14F-4D97-AF65-F5344CB8AC3E}">
        <p14:creationId xmlns:p14="http://schemas.microsoft.com/office/powerpoint/2010/main" val="102076680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0999" y="1719071"/>
            <a:ext cx="4572001" cy="4407408"/>
          </a:xfrm>
        </p:spPr>
        <p:txBody>
          <a:bodyPr/>
          <a:lstStyle/>
          <a:p>
            <a:r>
              <a:rPr lang="en-US" sz="2400" b="1" dirty="0" smtClean="0">
                <a:solidFill>
                  <a:schemeClr val="tx1">
                    <a:lumMod val="85000"/>
                    <a:lumOff val="15000"/>
                  </a:schemeClr>
                </a:solidFill>
              </a:rPr>
              <a:t>Google Firebase:</a:t>
            </a:r>
          </a:p>
          <a:p>
            <a:endParaRPr lang="en-US" sz="2400" b="1" dirty="0" smtClean="0">
              <a:solidFill>
                <a:schemeClr val="tx1">
                  <a:lumMod val="85000"/>
                  <a:lumOff val="15000"/>
                </a:schemeClr>
              </a:solidFill>
            </a:endParaRPr>
          </a:p>
          <a:p>
            <a:pPr algn="just"/>
            <a:r>
              <a:rPr lang="en-US" dirty="0" smtClean="0"/>
              <a:t>Google </a:t>
            </a:r>
            <a:r>
              <a:rPr lang="en-US" dirty="0"/>
              <a:t>Firebase is a </a:t>
            </a:r>
            <a:r>
              <a:rPr lang="en-US" dirty="0" smtClean="0"/>
              <a:t>Google-backed </a:t>
            </a:r>
            <a:r>
              <a:rPr lang="en-US" dirty="0"/>
              <a:t> </a:t>
            </a:r>
            <a:r>
              <a:rPr lang="en-US" b="1" dirty="0"/>
              <a:t>application development software</a:t>
            </a:r>
            <a:r>
              <a:rPr lang="en-US" dirty="0"/>
              <a:t> that enables developers to develop </a:t>
            </a:r>
            <a:r>
              <a:rPr lang="en-US" dirty="0" err="1"/>
              <a:t>iOS</a:t>
            </a:r>
            <a:r>
              <a:rPr lang="en-US" dirty="0"/>
              <a:t>, Android and Web apps. ... </a:t>
            </a:r>
            <a:r>
              <a:rPr lang="en-US" dirty="0" smtClean="0"/>
              <a:t>Real-time </a:t>
            </a:r>
            <a:r>
              <a:rPr lang="en-US" dirty="0"/>
              <a:t>database – the Firebase </a:t>
            </a:r>
            <a:r>
              <a:rPr lang="en-US" dirty="0" smtClean="0"/>
              <a:t>Real-time </a:t>
            </a:r>
            <a:r>
              <a:rPr lang="en-US" dirty="0"/>
              <a:t>Database is a cloud-hosted </a:t>
            </a:r>
            <a:r>
              <a:rPr lang="en-US" dirty="0" err="1"/>
              <a:t>NoSQL</a:t>
            </a:r>
            <a:r>
              <a:rPr lang="en-US" dirty="0"/>
              <a:t> database that enables data to be stored and synced between users in real time.</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0" y="1828800"/>
            <a:ext cx="3981450" cy="3981450"/>
          </a:xfrm>
          <a:prstGeom prst="rect">
            <a:avLst/>
          </a:prstGeom>
        </p:spPr>
      </p:pic>
    </p:spTree>
    <p:extLst>
      <p:ext uri="{BB962C8B-B14F-4D97-AF65-F5344CB8AC3E}">
        <p14:creationId xmlns:p14="http://schemas.microsoft.com/office/powerpoint/2010/main" val="387214408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0999" y="1719071"/>
            <a:ext cx="4724401" cy="4407408"/>
          </a:xfrm>
        </p:spPr>
        <p:txBody>
          <a:bodyPr>
            <a:normAutofit fontScale="85000" lnSpcReduction="10000"/>
          </a:bodyPr>
          <a:lstStyle/>
          <a:p>
            <a:r>
              <a:rPr lang="en-US" sz="2600" b="1" dirty="0" smtClean="0">
                <a:solidFill>
                  <a:schemeClr val="tx1">
                    <a:lumMod val="85000"/>
                    <a:lumOff val="15000"/>
                  </a:schemeClr>
                </a:solidFill>
              </a:rPr>
              <a:t>Flutter :</a:t>
            </a:r>
          </a:p>
          <a:p>
            <a:endParaRPr lang="en-US" sz="2600" b="1" dirty="0" smtClean="0">
              <a:solidFill>
                <a:schemeClr val="tx1">
                  <a:lumMod val="85000"/>
                  <a:lumOff val="15000"/>
                </a:schemeClr>
              </a:solidFill>
            </a:endParaRPr>
          </a:p>
          <a:p>
            <a:pPr algn="just">
              <a:lnSpc>
                <a:spcPct val="120000"/>
              </a:lnSpc>
            </a:pPr>
            <a:r>
              <a:rPr lang="en-US" dirty="0"/>
              <a:t>Flutter is an open-source UI software development kit created by Google. It is used to develop cross platform applications for Android, </a:t>
            </a:r>
            <a:r>
              <a:rPr lang="en-US" dirty="0" err="1"/>
              <a:t>iOS</a:t>
            </a:r>
            <a:r>
              <a:rPr lang="en-US" dirty="0"/>
              <a:t>, Linux, Mac, Windows, Google Fuchsia, and the web from a single codebase. </a:t>
            </a:r>
            <a:r>
              <a:rPr lang="en-US" dirty="0"/>
              <a:t/>
            </a:r>
            <a:br>
              <a:rPr lang="en-US" dirty="0"/>
            </a:br>
            <a:r>
              <a:rPr lang="en-US" dirty="0"/>
              <a:t>Flutter avoids using a bridge to communicate with the native layer (such as Android or </a:t>
            </a:r>
            <a:r>
              <a:rPr lang="en-US" dirty="0" err="1"/>
              <a:t>iOS</a:t>
            </a:r>
            <a:r>
              <a:rPr lang="en-US" dirty="0" smtClean="0"/>
              <a:t>)., </a:t>
            </a:r>
            <a:r>
              <a:rPr lang="en-US" dirty="0"/>
              <a:t>Flutter having its own programming language means that to get your app developed, you'll need developers to code in Dart</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05400" y="2168236"/>
            <a:ext cx="3810000" cy="3810000"/>
          </a:xfrm>
          <a:prstGeom prst="rect">
            <a:avLst/>
          </a:prstGeom>
        </p:spPr>
      </p:pic>
    </p:spTree>
    <p:extLst>
      <p:ext uri="{BB962C8B-B14F-4D97-AF65-F5344CB8AC3E}">
        <p14:creationId xmlns:p14="http://schemas.microsoft.com/office/powerpoint/2010/main" val="31017343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0999" y="1719071"/>
            <a:ext cx="4724401" cy="4407408"/>
          </a:xfrm>
        </p:spPr>
        <p:txBody>
          <a:bodyPr>
            <a:normAutofit fontScale="85000" lnSpcReduction="20000"/>
          </a:bodyPr>
          <a:lstStyle/>
          <a:p>
            <a:pPr algn="just" fontAlgn="base">
              <a:lnSpc>
                <a:spcPct val="120000"/>
              </a:lnSpc>
            </a:pPr>
            <a:r>
              <a:rPr lang="en-US" b="1" dirty="0"/>
              <a:t>Flutter </a:t>
            </a:r>
            <a:r>
              <a:rPr lang="en-US" b="1" dirty="0" smtClean="0"/>
              <a:t>Firebase developer </a:t>
            </a:r>
            <a:r>
              <a:rPr lang="en-US" b="1" dirty="0"/>
              <a:t>survey </a:t>
            </a:r>
            <a:r>
              <a:rPr lang="en-US" b="1" dirty="0" smtClean="0"/>
              <a:t>2018</a:t>
            </a:r>
          </a:p>
          <a:p>
            <a:pPr algn="just" fontAlgn="base">
              <a:lnSpc>
                <a:spcPct val="120000"/>
              </a:lnSpc>
            </a:pPr>
            <a:endParaRPr lang="en-US" b="1" dirty="0" smtClean="0"/>
          </a:p>
          <a:p>
            <a:pPr algn="just" fontAlgn="base">
              <a:lnSpc>
                <a:spcPct val="120000"/>
              </a:lnSpc>
            </a:pPr>
            <a:r>
              <a:rPr lang="en-US" dirty="0" smtClean="0"/>
              <a:t> The</a:t>
            </a:r>
            <a:r>
              <a:rPr lang="en-US" dirty="0"/>
              <a:t> </a:t>
            </a:r>
            <a:r>
              <a:rPr lang="en-US" dirty="0">
                <a:hlinkClick r:id="rId2"/>
              </a:rPr>
              <a:t>User Experience Research team conducted a survey</a:t>
            </a:r>
            <a:r>
              <a:rPr lang="en-US" dirty="0"/>
              <a:t> to review user satisfaction and needs. A respectable 1,016 developers responded to the survey. So, what did they find </a:t>
            </a:r>
            <a:r>
              <a:rPr lang="en-US" dirty="0" smtClean="0"/>
              <a:t>out ? First </a:t>
            </a:r>
            <a:r>
              <a:rPr lang="en-US" dirty="0"/>
              <a:t>off, Flutter developers are a diverse bunch with all kinds of backgrounds. Given that it’s for mobile development, it’s a given that Android developers are well represented (67%), but web developers (45%) and </a:t>
            </a:r>
            <a:r>
              <a:rPr lang="en-US" dirty="0" err="1"/>
              <a:t>iOS</a:t>
            </a:r>
            <a:r>
              <a:rPr lang="en-US" dirty="0"/>
              <a:t> developers (30%) made a decent showing.</a:t>
            </a:r>
          </a:p>
          <a:p>
            <a:endParaRPr lang="en-US" dirty="0"/>
          </a:p>
        </p:txBody>
      </p:sp>
      <p:sp>
        <p:nvSpPr>
          <p:cNvPr id="2" name="Title 1"/>
          <p:cNvSpPr>
            <a:spLocks noGrp="1"/>
          </p:cNvSpPr>
          <p:nvPr>
            <p:ph type="title"/>
          </p:nvPr>
        </p:nvSpPr>
        <p:spPr/>
        <p:txBody>
          <a:bodyPr/>
          <a:lstStyle/>
          <a:p>
            <a:r>
              <a:rPr lang="en-US" dirty="0" smtClean="0"/>
              <a:t>Literature survey </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1600" y="3043936"/>
            <a:ext cx="3695700" cy="2285175"/>
          </a:xfrm>
          <a:prstGeom prst="rect">
            <a:avLst/>
          </a:prstGeom>
        </p:spPr>
      </p:pic>
    </p:spTree>
    <p:extLst>
      <p:ext uri="{BB962C8B-B14F-4D97-AF65-F5344CB8AC3E}">
        <p14:creationId xmlns:p14="http://schemas.microsoft.com/office/powerpoint/2010/main" val="13170305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0999" y="1719070"/>
            <a:ext cx="4648201" cy="4834129"/>
          </a:xfrm>
        </p:spPr>
        <p:txBody>
          <a:bodyPr>
            <a:normAutofit fontScale="85000" lnSpcReduction="10000"/>
          </a:bodyPr>
          <a:lstStyle/>
          <a:p>
            <a:pPr algn="just"/>
            <a:r>
              <a:rPr lang="en-US" dirty="0"/>
              <a:t>Flutter went live in December 2018 but it reached 2 million users by April 2020.</a:t>
            </a:r>
          </a:p>
          <a:p>
            <a:pPr algn="just"/>
            <a:r>
              <a:rPr lang="en-US" dirty="0"/>
              <a:t>Google released version 1.20 of its Flutter cross-platform framework for mobile, web and desktop, and reports that the number of Flutter-built apps in the Play store has increased from 50,000 to 90,000 since April 2020.</a:t>
            </a:r>
          </a:p>
          <a:p>
            <a:pPr algn="just"/>
            <a:r>
              <a:rPr lang="en-US" dirty="0"/>
              <a:t>Flutter’s beta version was launched on 13th March 2018 and it was first to live on 4th December 2018. In such a short amount of time, Flutter had already established its position in the market. Let’s take a look at the graph below to understand the popularity of Flutter when it was just launched as compared to other mobile platforms.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4754545" y="2255854"/>
            <a:ext cx="4368832" cy="3362325"/>
          </a:xfrm>
          <a:prstGeom prst="rect">
            <a:avLst/>
          </a:prstGeom>
        </p:spPr>
      </p:pic>
    </p:spTree>
    <p:extLst>
      <p:ext uri="{BB962C8B-B14F-4D97-AF65-F5344CB8AC3E}">
        <p14:creationId xmlns:p14="http://schemas.microsoft.com/office/powerpoint/2010/main" val="204356143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828800"/>
            <a:ext cx="8407893" cy="4407408"/>
          </a:xfrm>
        </p:spPr>
        <p:txBody>
          <a:bodyPr>
            <a:normAutofit/>
          </a:bodyPr>
          <a:lstStyle/>
          <a:p>
            <a:pPr algn="ctr">
              <a:buFont typeface="Wingdings" pitchFamily="2" charset="2"/>
              <a:buChar char="Ø"/>
            </a:pPr>
            <a:r>
              <a:rPr lang="en-US" b="1" dirty="0" smtClean="0"/>
              <a:t> </a:t>
            </a:r>
            <a:r>
              <a:rPr lang="en-US" b="1" dirty="0"/>
              <a:t>A Research Paper on a Progress Tracking Application using Flutter and Firebase </a:t>
            </a:r>
            <a:r>
              <a:rPr lang="en-US" b="1" dirty="0" smtClean="0"/>
              <a:t>.</a:t>
            </a:r>
          </a:p>
          <a:p>
            <a:pPr marL="45720" indent="0" algn="ctr">
              <a:buNone/>
            </a:pPr>
            <a:r>
              <a:rPr lang="en-US" sz="1200" dirty="0"/>
              <a:t> ISSN: 2321-9653; IC Value: 45.98; SJ Impact Factor: 7.429                                                                                                                 Volume 9 Issue </a:t>
            </a:r>
            <a:r>
              <a:rPr lang="en-US" sz="1200" dirty="0" smtClean="0"/>
              <a:t>5 </a:t>
            </a:r>
            <a:r>
              <a:rPr lang="en-US" sz="1200" dirty="0"/>
              <a:t>May 2021</a:t>
            </a:r>
            <a:endParaRPr lang="en-US" sz="1200" dirty="0" smtClean="0"/>
          </a:p>
          <a:p>
            <a:pPr marL="45720" indent="0" algn="ctr">
              <a:buNone/>
            </a:pPr>
            <a:r>
              <a:rPr lang="en-US" sz="1600" dirty="0" err="1"/>
              <a:t>Parth</a:t>
            </a:r>
            <a:r>
              <a:rPr lang="en-US" sz="1600" dirty="0"/>
              <a:t> </a:t>
            </a:r>
            <a:r>
              <a:rPr lang="en-US" sz="1600" dirty="0" smtClean="0"/>
              <a:t>Jindal, </a:t>
            </a:r>
            <a:r>
              <a:rPr lang="en-US" sz="1600" dirty="0" err="1"/>
              <a:t>Piyush</a:t>
            </a:r>
            <a:r>
              <a:rPr lang="en-US" sz="1600" dirty="0"/>
              <a:t> </a:t>
            </a:r>
            <a:r>
              <a:rPr lang="en-US" sz="1600" dirty="0" smtClean="0"/>
              <a:t>Sharma, </a:t>
            </a:r>
            <a:r>
              <a:rPr lang="en-US" sz="1600" dirty="0" err="1"/>
              <a:t>Mohit</a:t>
            </a:r>
            <a:r>
              <a:rPr lang="en-US" sz="1600" dirty="0"/>
              <a:t> </a:t>
            </a:r>
            <a:r>
              <a:rPr lang="en-US" sz="1600" dirty="0" smtClean="0"/>
              <a:t>Kumar (B</a:t>
            </a:r>
            <a:r>
              <a:rPr lang="en-US" sz="1600" dirty="0"/>
              <a:t>. Tech Students, Department of Computer Science and Engineering, Global Institute of Technology, Jaipur, Rajasthan, </a:t>
            </a:r>
            <a:r>
              <a:rPr lang="en-US" sz="1600" dirty="0" smtClean="0"/>
              <a:t>India) </a:t>
            </a:r>
          </a:p>
          <a:p>
            <a:pPr marL="45720" indent="0" algn="ctr">
              <a:buNone/>
            </a:pPr>
            <a:endParaRPr lang="en-US" sz="1600" dirty="0" smtClean="0"/>
          </a:p>
          <a:p>
            <a:pPr marL="45720" indent="0" algn="ctr">
              <a:buNone/>
            </a:pPr>
            <a:endParaRPr lang="en-US" sz="1600" dirty="0"/>
          </a:p>
          <a:p>
            <a:pPr marL="45720" indent="0" algn="ctr">
              <a:buNone/>
            </a:pPr>
            <a:r>
              <a:rPr lang="en-US" sz="1800" dirty="0" smtClean="0"/>
              <a:t>“</a:t>
            </a:r>
            <a:r>
              <a:rPr lang="en-US" sz="1600" dirty="0">
                <a:latin typeface="Lucida Calligraphy" pitchFamily="66" charset="0"/>
              </a:rPr>
              <a:t>Considering current times and situations we carried out several interviews among students and people working tech. and business jobs, and found out that most people find it difficult to manage the sudden paradigm change as they suddenly find themselves in a situation in which they have no monitoring system set in place to maintain or even measure their productivity. .</a:t>
            </a:r>
            <a:r>
              <a:rPr lang="en-US" sz="1800" dirty="0">
                <a:latin typeface="Lucida Calligraphy" pitchFamily="66" charset="0"/>
              </a:rPr>
              <a:t>”</a:t>
            </a:r>
            <a:endParaRPr lang="en-US" sz="1800" dirty="0" smtClean="0">
              <a:latin typeface="Lucida Calligraphy" pitchFamily="66" charset="0"/>
            </a:endParaRPr>
          </a:p>
          <a:p>
            <a:pPr marL="45720" indent="0">
              <a:buNone/>
            </a:pPr>
            <a:endParaRPr lang="en-US" sz="1600" dirty="0">
              <a:latin typeface="Lucida Calligraphy" pitchFamily="66" charset="0"/>
            </a:endParaRPr>
          </a:p>
          <a:p>
            <a:pPr marL="45720" indent="0">
              <a:buNone/>
            </a:pPr>
            <a:endParaRPr lang="en-US" sz="1600" dirty="0"/>
          </a:p>
        </p:txBody>
      </p:sp>
      <p:sp>
        <p:nvSpPr>
          <p:cNvPr id="3" name="Title 2"/>
          <p:cNvSpPr>
            <a:spLocks noGrp="1"/>
          </p:cNvSpPr>
          <p:nvPr>
            <p:ph type="title"/>
          </p:nvPr>
        </p:nvSpPr>
        <p:spPr/>
        <p:txBody>
          <a:bodyPr/>
          <a:lstStyle/>
          <a:p>
            <a:r>
              <a:rPr lang="en-US" dirty="0" smtClean="0"/>
              <a:t>Current Case study</a:t>
            </a:r>
            <a:endParaRPr lang="en-US" dirty="0"/>
          </a:p>
        </p:txBody>
      </p:sp>
    </p:spTree>
    <p:extLst>
      <p:ext uri="{BB962C8B-B14F-4D97-AF65-F5344CB8AC3E}">
        <p14:creationId xmlns:p14="http://schemas.microsoft.com/office/powerpoint/2010/main" val="191551878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828800"/>
            <a:ext cx="8407893" cy="4407408"/>
          </a:xfrm>
        </p:spPr>
        <p:txBody>
          <a:bodyPr/>
          <a:lstStyle/>
          <a:p>
            <a:pPr algn="ctr">
              <a:buFont typeface="Wingdings" pitchFamily="2" charset="2"/>
              <a:buChar char="Ø"/>
            </a:pPr>
            <a:r>
              <a:rPr lang="en-US" sz="2200" b="1" dirty="0"/>
              <a:t>Application of Firebase in Android App Development-A </a:t>
            </a:r>
            <a:r>
              <a:rPr lang="en-US" sz="2200" b="1" dirty="0" smtClean="0"/>
              <a:t>Study </a:t>
            </a:r>
            <a:endParaRPr lang="en-US" sz="2200" b="1" dirty="0"/>
          </a:p>
          <a:p>
            <a:pPr marL="45720" indent="0" algn="ctr">
              <a:buNone/>
            </a:pPr>
            <a:r>
              <a:rPr lang="en-US" sz="1200" dirty="0"/>
              <a:t>International Journal of Computer Applications (0975 – 8887) Volume 179 – No.46, June </a:t>
            </a:r>
            <a:r>
              <a:rPr lang="en-US" sz="1200" dirty="0" smtClean="0"/>
              <a:t>2020 </a:t>
            </a:r>
            <a:endParaRPr lang="en-US" sz="1200" dirty="0"/>
          </a:p>
          <a:p>
            <a:pPr marL="45720" indent="0" algn="ctr">
              <a:buNone/>
            </a:pPr>
            <a:endParaRPr lang="en-US" sz="1200" dirty="0" smtClean="0"/>
          </a:p>
          <a:p>
            <a:pPr marL="45720" indent="0" algn="ctr">
              <a:buNone/>
            </a:pPr>
            <a:r>
              <a:rPr lang="en-US" sz="1400" dirty="0" smtClean="0"/>
              <a:t>1.Chunnu </a:t>
            </a:r>
            <a:r>
              <a:rPr lang="en-US" sz="1400" dirty="0" err="1"/>
              <a:t>Khawas</a:t>
            </a:r>
            <a:r>
              <a:rPr lang="en-US" sz="1400" dirty="0"/>
              <a:t> </a:t>
            </a:r>
            <a:r>
              <a:rPr lang="en-US" sz="1400" dirty="0" smtClean="0"/>
              <a:t>(Department </a:t>
            </a:r>
            <a:r>
              <a:rPr lang="en-US" sz="1400" dirty="0"/>
              <a:t>of Computer Applications Sikkim University </a:t>
            </a:r>
            <a:r>
              <a:rPr lang="en-US" sz="1400" dirty="0" err="1"/>
              <a:t>Gangtok</a:t>
            </a:r>
            <a:r>
              <a:rPr lang="en-US" sz="1400" dirty="0"/>
              <a:t>, </a:t>
            </a:r>
            <a:r>
              <a:rPr lang="en-US" sz="1400" dirty="0" smtClean="0"/>
              <a:t>India) 2.Pritam </a:t>
            </a:r>
            <a:r>
              <a:rPr lang="en-US" sz="1400" dirty="0"/>
              <a:t>Shah </a:t>
            </a:r>
            <a:r>
              <a:rPr lang="en-US" sz="1400" dirty="0" smtClean="0"/>
              <a:t>(Department </a:t>
            </a:r>
            <a:r>
              <a:rPr lang="en-US" sz="1400" dirty="0"/>
              <a:t>of Computer Applications Sikkim University </a:t>
            </a:r>
            <a:r>
              <a:rPr lang="en-US" sz="1400" dirty="0" err="1"/>
              <a:t>Gangtok</a:t>
            </a:r>
            <a:r>
              <a:rPr lang="en-US" sz="1400" dirty="0"/>
              <a:t>, India </a:t>
            </a:r>
            <a:r>
              <a:rPr lang="en-US" sz="1400" dirty="0" smtClean="0"/>
              <a:t>) </a:t>
            </a:r>
          </a:p>
          <a:p>
            <a:pPr marL="388620" indent="-342900" algn="ctr">
              <a:buAutoNum type="arabicPeriod"/>
            </a:pPr>
            <a:endParaRPr lang="en-US" sz="1400" dirty="0"/>
          </a:p>
          <a:p>
            <a:pPr marL="388620" indent="-342900" algn="ctr">
              <a:buAutoNum type="arabicPeriod"/>
            </a:pPr>
            <a:endParaRPr lang="en-US" sz="1400" dirty="0" smtClean="0"/>
          </a:p>
          <a:p>
            <a:pPr marL="388620" indent="-342900" algn="ctr">
              <a:buAutoNum type="arabicPeriod"/>
            </a:pPr>
            <a:endParaRPr lang="en-US" sz="1400" dirty="0"/>
          </a:p>
          <a:p>
            <a:pPr marL="45720" indent="0" algn="ctr">
              <a:buNone/>
            </a:pPr>
            <a:r>
              <a:rPr lang="en-US" sz="1600" dirty="0" smtClean="0">
                <a:latin typeface="Lucida Calligraphy" pitchFamily="66" charset="0"/>
              </a:rPr>
              <a:t>“ The </a:t>
            </a:r>
            <a:r>
              <a:rPr lang="en-US" sz="1600" dirty="0">
                <a:latin typeface="Lucida Calligraphy" pitchFamily="66" charset="0"/>
              </a:rPr>
              <a:t>web application has become more and more reliant upon large amount of database and unorganized data such as videos, images, audio, text, files and other arbitrary types. It is difficult for Relational Database Management System (RDBMS) to handle the unstructured data. Firebase is a relatively new technology for handling large amount of unstructured </a:t>
            </a:r>
            <a:r>
              <a:rPr lang="en-US" sz="1600" dirty="0" smtClean="0">
                <a:latin typeface="Lucida Calligraphy" pitchFamily="66" charset="0"/>
              </a:rPr>
              <a:t>data. ”</a:t>
            </a:r>
            <a:endParaRPr lang="en-US" sz="1600" dirty="0">
              <a:latin typeface="Lucida Calligraphy" pitchFamily="66" charset="0"/>
            </a:endParaRPr>
          </a:p>
        </p:txBody>
      </p:sp>
    </p:spTree>
    <p:extLst>
      <p:ext uri="{BB962C8B-B14F-4D97-AF65-F5344CB8AC3E}">
        <p14:creationId xmlns:p14="http://schemas.microsoft.com/office/powerpoint/2010/main" val="344874638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727537"/>
            <a:ext cx="3505199" cy="1008405"/>
          </a:xfrm>
        </p:spPr>
        <p:txBody>
          <a:bodyPr/>
          <a:lstStyle/>
          <a:p>
            <a:pPr marL="45720" indent="0">
              <a:buNone/>
            </a:pPr>
            <a:r>
              <a:rPr lang="en-US" dirty="0" smtClean="0"/>
              <a:t>1. BMW </a:t>
            </a:r>
            <a:r>
              <a:rPr lang="en-US" dirty="0"/>
              <a:t>Builds its Car Application with </a:t>
            </a:r>
            <a:r>
              <a:rPr lang="en-US" dirty="0" smtClean="0"/>
              <a:t>Flutter.</a:t>
            </a:r>
            <a:r>
              <a:rPr lang="en-US" dirty="0"/>
              <a:t> </a:t>
            </a:r>
          </a:p>
          <a:p>
            <a:endParaRPr lang="en-US" dirty="0"/>
          </a:p>
        </p:txBody>
      </p:sp>
      <p:sp>
        <p:nvSpPr>
          <p:cNvPr id="3" name="Title 2"/>
          <p:cNvSpPr>
            <a:spLocks noGrp="1"/>
          </p:cNvSpPr>
          <p:nvPr>
            <p:ph type="title"/>
          </p:nvPr>
        </p:nvSpPr>
        <p:spPr/>
        <p:txBody>
          <a:bodyPr/>
          <a:lstStyle/>
          <a:p>
            <a:r>
              <a:rPr lang="en-US" dirty="0"/>
              <a:t>Current Trends </a:t>
            </a:r>
            <a:r>
              <a:rPr lang="en-US" dirty="0" smtClean="0"/>
              <a:t>in Topic</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r="56260"/>
          <a:stretch/>
        </p:blipFill>
        <p:spPr>
          <a:xfrm>
            <a:off x="685800" y="2735942"/>
            <a:ext cx="2916382" cy="3810000"/>
          </a:xfrm>
          <a:prstGeom prst="rect">
            <a:avLst/>
          </a:prstGeom>
        </p:spPr>
      </p:pic>
      <p:sp>
        <p:nvSpPr>
          <p:cNvPr id="6" name="Rectangle 5"/>
          <p:cNvSpPr/>
          <p:nvPr/>
        </p:nvSpPr>
        <p:spPr>
          <a:xfrm>
            <a:off x="5153891" y="1727537"/>
            <a:ext cx="3276600" cy="707886"/>
          </a:xfrm>
          <a:prstGeom prst="rect">
            <a:avLst/>
          </a:prstGeom>
        </p:spPr>
        <p:txBody>
          <a:bodyPr wrap="square">
            <a:spAutoFit/>
          </a:bodyPr>
          <a:lstStyle/>
          <a:p>
            <a:pPr algn="ctr"/>
            <a:r>
              <a:rPr lang="en-US" sz="2000" dirty="0" smtClean="0"/>
              <a:t>2. </a:t>
            </a:r>
            <a:r>
              <a:rPr lang="en-US" sz="2000" dirty="0" err="1" smtClean="0"/>
              <a:t>Alibaba</a:t>
            </a:r>
            <a:r>
              <a:rPr lang="en-US" sz="2000" dirty="0" smtClean="0"/>
              <a:t> </a:t>
            </a:r>
            <a:r>
              <a:rPr lang="en-US" sz="2000" dirty="0"/>
              <a:t>Chooses Flutter to Develop a Versatile </a:t>
            </a:r>
            <a:r>
              <a:rPr lang="en-US" sz="2000" dirty="0" smtClean="0"/>
              <a:t>App.</a:t>
            </a:r>
            <a:endParaRPr lang="en-US" sz="2000" dirty="0"/>
          </a:p>
        </p:txBody>
      </p: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r="54702"/>
          <a:stretch/>
        </p:blipFill>
        <p:spPr>
          <a:xfrm>
            <a:off x="5410200" y="2735942"/>
            <a:ext cx="3020291" cy="3810000"/>
          </a:xfrm>
          <a:prstGeom prst="rect">
            <a:avLst/>
          </a:prstGeom>
        </p:spPr>
      </p:pic>
    </p:spTree>
    <p:extLst>
      <p:ext uri="{BB962C8B-B14F-4D97-AF65-F5344CB8AC3E}">
        <p14:creationId xmlns:p14="http://schemas.microsoft.com/office/powerpoint/2010/main" val="16742987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1745673"/>
            <a:ext cx="3124200" cy="795529"/>
          </a:xfrm>
        </p:spPr>
        <p:txBody>
          <a:bodyPr>
            <a:normAutofit/>
          </a:bodyPr>
          <a:lstStyle/>
          <a:p>
            <a:pPr marL="45720" indent="0">
              <a:buNone/>
            </a:pPr>
            <a:r>
              <a:rPr lang="en-US" sz="2400" dirty="0" smtClean="0"/>
              <a:t>3. Cryptograph App</a:t>
            </a:r>
            <a:endParaRPr lang="en-US" sz="2400" dirty="0"/>
          </a:p>
          <a:p>
            <a:pPr marL="45720" indent="0">
              <a:buNone/>
            </a:pPr>
            <a:endParaRPr lang="en-US" dirty="0"/>
          </a:p>
        </p:txBody>
      </p:sp>
      <p:sp>
        <p:nvSpPr>
          <p:cNvPr id="4" name="Rectangle 3"/>
          <p:cNvSpPr/>
          <p:nvPr/>
        </p:nvSpPr>
        <p:spPr>
          <a:xfrm>
            <a:off x="5292480" y="1745673"/>
            <a:ext cx="2729346" cy="1292662"/>
          </a:xfrm>
          <a:prstGeom prst="rect">
            <a:avLst/>
          </a:prstGeom>
          <a:noFill/>
        </p:spPr>
        <p:txBody>
          <a:bodyPr wrap="square" lIns="91440" tIns="45720" rIns="91440" bIns="45720">
            <a:spAutoFit/>
          </a:bodyPr>
          <a:lstStyle/>
          <a:p>
            <a:pPr algn="ctr"/>
            <a:r>
              <a:rPr lang="en-US" sz="2400" dirty="0" smtClean="0"/>
              <a:t>4. Dream 11 App</a:t>
            </a:r>
            <a:endParaRPr lang="en-US" sz="2400" dirty="0"/>
          </a:p>
          <a:p>
            <a:pPr algn="ctr"/>
            <a:endPar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r="54364"/>
          <a:stretch/>
        </p:blipFill>
        <p:spPr>
          <a:xfrm>
            <a:off x="5135751" y="2590800"/>
            <a:ext cx="3042805" cy="3810000"/>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r="54779"/>
          <a:stretch/>
        </p:blipFill>
        <p:spPr>
          <a:xfrm>
            <a:off x="634711" y="2590800"/>
            <a:ext cx="3015095" cy="3810000"/>
          </a:xfrm>
          <a:prstGeom prst="rect">
            <a:avLst/>
          </a:prstGeom>
        </p:spPr>
      </p:pic>
    </p:spTree>
    <p:extLst>
      <p:ext uri="{BB962C8B-B14F-4D97-AF65-F5344CB8AC3E}">
        <p14:creationId xmlns:p14="http://schemas.microsoft.com/office/powerpoint/2010/main" val="240786507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1" y="1828800"/>
            <a:ext cx="5257799" cy="4724400"/>
          </a:xfrm>
        </p:spPr>
        <p:txBody>
          <a:bodyPr>
            <a:normAutofit lnSpcReduction="10000"/>
          </a:bodyPr>
          <a:lstStyle/>
          <a:p>
            <a:r>
              <a:rPr lang="en-US" sz="2400" b="1" dirty="0"/>
              <a:t>VS </a:t>
            </a:r>
            <a:r>
              <a:rPr lang="en-US" sz="2400" b="1" dirty="0" smtClean="0"/>
              <a:t>Code : </a:t>
            </a:r>
          </a:p>
          <a:p>
            <a:pPr algn="just"/>
            <a:r>
              <a:rPr lang="en-US" sz="1600" dirty="0"/>
              <a:t>Visual Studio Code is a streamlined code editor with support for development operations like debugging, task running, and version control. It aims to provide just the tools a developer needs for a quick code-build-debug cycle and leaves more complex workflows to fuller featured IDEs, such as Visual Studio IDE.</a:t>
            </a:r>
            <a:r>
              <a:rPr lang="en-US" sz="1600" dirty="0" smtClean="0"/>
              <a:t> </a:t>
            </a:r>
            <a:endParaRPr lang="en-US" sz="1600" dirty="0"/>
          </a:p>
          <a:p>
            <a:endParaRPr lang="en-US" dirty="0" smtClean="0"/>
          </a:p>
          <a:p>
            <a:r>
              <a:rPr lang="en-US" sz="2400" b="1" dirty="0" smtClean="0"/>
              <a:t>Android Studio :</a:t>
            </a:r>
          </a:p>
          <a:p>
            <a:pPr algn="just"/>
            <a:r>
              <a:rPr lang="en-US" sz="1600" dirty="0"/>
              <a:t>Android Studio provides a unified environment where you can build apps for Android phones, tablets, Android Wear, Android TV, and Android Auto. Structured code modules allow you to divide your project into units of functionality that you can independently build, test, and debug.</a:t>
            </a:r>
            <a:endParaRPr lang="en-US" sz="1600" b="1" dirty="0"/>
          </a:p>
        </p:txBody>
      </p:sp>
      <p:sp>
        <p:nvSpPr>
          <p:cNvPr id="3" name="Title 2"/>
          <p:cNvSpPr>
            <a:spLocks noGrp="1"/>
          </p:cNvSpPr>
          <p:nvPr>
            <p:ph type="title"/>
          </p:nvPr>
        </p:nvSpPr>
        <p:spPr/>
        <p:txBody>
          <a:bodyPr/>
          <a:lstStyle/>
          <a:p>
            <a:r>
              <a:rPr lang="en-US" dirty="0" smtClean="0"/>
              <a:t>Tools and Technology </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0" y="1939636"/>
            <a:ext cx="2057400" cy="20574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0" y="4572000"/>
            <a:ext cx="1905000" cy="1905000"/>
          </a:xfrm>
          <a:prstGeom prst="rect">
            <a:avLst/>
          </a:prstGeom>
        </p:spPr>
      </p:pic>
    </p:spTree>
    <p:extLst>
      <p:ext uri="{BB962C8B-B14F-4D97-AF65-F5344CB8AC3E}">
        <p14:creationId xmlns:p14="http://schemas.microsoft.com/office/powerpoint/2010/main" val="355767376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Step 1: Create a Firebase </a:t>
            </a:r>
            <a:r>
              <a:rPr lang="en-US" b="1" dirty="0" smtClean="0"/>
              <a:t>project</a:t>
            </a:r>
          </a:p>
          <a:p>
            <a:endParaRPr lang="en-US" b="1" dirty="0"/>
          </a:p>
          <a:p>
            <a:r>
              <a:rPr lang="en-US" b="1" dirty="0"/>
              <a:t>Step 2: Register your app with </a:t>
            </a:r>
            <a:r>
              <a:rPr lang="en-US" b="1" dirty="0" smtClean="0"/>
              <a:t>Firebase</a:t>
            </a:r>
          </a:p>
          <a:p>
            <a:endParaRPr lang="en-US" b="1" dirty="0"/>
          </a:p>
          <a:p>
            <a:r>
              <a:rPr lang="en-US" b="1" dirty="0"/>
              <a:t>Step 3: Add a Firebase configuration </a:t>
            </a:r>
            <a:r>
              <a:rPr lang="en-US" b="1" dirty="0" smtClean="0"/>
              <a:t>file</a:t>
            </a:r>
          </a:p>
          <a:p>
            <a:endParaRPr lang="en-US" b="1" dirty="0"/>
          </a:p>
          <a:p>
            <a:r>
              <a:rPr lang="en-US" b="1" dirty="0"/>
              <a:t>Step 4: Add </a:t>
            </a:r>
            <a:r>
              <a:rPr lang="en-US" b="1" dirty="0" smtClean="0"/>
              <a:t>Flutter Fire plugins</a:t>
            </a:r>
          </a:p>
          <a:p>
            <a:pPr lvl="2"/>
            <a:r>
              <a:rPr lang="en-US" dirty="0"/>
              <a:t>open your </a:t>
            </a:r>
            <a:r>
              <a:rPr lang="en-US" dirty="0" err="1"/>
              <a:t>pubspec.yaml</a:t>
            </a:r>
            <a:r>
              <a:rPr lang="en-US" dirty="0"/>
              <a:t> file.</a:t>
            </a:r>
          </a:p>
          <a:p>
            <a:pPr lvl="2"/>
            <a:r>
              <a:rPr lang="en-US" dirty="0"/>
              <a:t>Add the </a:t>
            </a:r>
            <a:r>
              <a:rPr lang="en-US" dirty="0" smtClean="0"/>
              <a:t>Flutter Fire </a:t>
            </a:r>
            <a:r>
              <a:rPr lang="en-US" dirty="0"/>
              <a:t>plugin for the </a:t>
            </a:r>
            <a:r>
              <a:rPr lang="en-US" dirty="0">
                <a:hlinkClick r:id="rId2"/>
              </a:rPr>
              <a:t>Firebase Core Flutter </a:t>
            </a:r>
            <a:r>
              <a:rPr lang="en-US" dirty="0" smtClean="0">
                <a:hlinkClick r:id="rId2"/>
              </a:rPr>
              <a:t>SDK</a:t>
            </a:r>
            <a:r>
              <a:rPr lang="en-US" dirty="0" smtClean="0"/>
              <a:t>.</a:t>
            </a:r>
          </a:p>
          <a:p>
            <a:pPr lvl="2"/>
            <a:r>
              <a:rPr lang="en-US" dirty="0"/>
              <a:t>Run</a:t>
            </a:r>
            <a:r>
              <a:rPr lang="en-US" sz="1800" dirty="0"/>
              <a:t> </a:t>
            </a:r>
            <a:r>
              <a:rPr lang="en-US" dirty="0"/>
              <a:t>flutter packages get</a:t>
            </a:r>
            <a:r>
              <a:rPr lang="en-US" dirty="0"/>
              <a:t>.</a:t>
            </a:r>
          </a:p>
          <a:p>
            <a:pPr marL="1645920" lvl="6" indent="0">
              <a:buNone/>
            </a:pPr>
            <a:r>
              <a:rPr lang="en-US" dirty="0" smtClean="0"/>
              <a:t>              </a:t>
            </a:r>
            <a:endParaRPr lang="en-US" dirty="0"/>
          </a:p>
        </p:txBody>
      </p:sp>
      <p:sp>
        <p:nvSpPr>
          <p:cNvPr id="3" name="Title 2"/>
          <p:cNvSpPr>
            <a:spLocks noGrp="1"/>
          </p:cNvSpPr>
          <p:nvPr>
            <p:ph type="title"/>
          </p:nvPr>
        </p:nvSpPr>
        <p:spPr>
          <a:xfrm>
            <a:off x="76200" y="355847"/>
            <a:ext cx="8686060" cy="1054394"/>
          </a:xfrm>
        </p:spPr>
        <p:txBody>
          <a:bodyPr/>
          <a:lstStyle/>
          <a:p>
            <a:r>
              <a:rPr lang="en-US" dirty="0" smtClean="0"/>
              <a:t>Adding </a:t>
            </a:r>
            <a:r>
              <a:rPr lang="en-US" dirty="0"/>
              <a:t>Firebase to your Flutter app</a:t>
            </a:r>
            <a:endParaRPr lang="en-US" dirty="0"/>
          </a:p>
        </p:txBody>
      </p:sp>
    </p:spTree>
    <p:extLst>
      <p:ext uri="{BB962C8B-B14F-4D97-AF65-F5344CB8AC3E}">
        <p14:creationId xmlns:p14="http://schemas.microsoft.com/office/powerpoint/2010/main" val="206210898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ctr"/>
            <a:endParaRPr lang="en-US" dirty="0" smtClean="0">
              <a:latin typeface="Lucida Calligraphy" pitchFamily="66" charset="0"/>
            </a:endParaRPr>
          </a:p>
          <a:p>
            <a:pPr marL="45720" indent="0" algn="ctr">
              <a:buNone/>
            </a:pPr>
            <a:r>
              <a:rPr lang="en-US" dirty="0" smtClean="0">
                <a:latin typeface="Lucida Calligraphy" pitchFamily="66" charset="0"/>
              </a:rPr>
              <a:t>In </a:t>
            </a:r>
            <a:r>
              <a:rPr lang="en-US" dirty="0">
                <a:latin typeface="Lucida Calligraphy" pitchFamily="66" charset="0"/>
              </a:rPr>
              <a:t>conclusion, Flutter is a good framework to consider in mobile application development. With all the convenience widgets and support for both Material and Cupertino design it is easy to create a good-looking user interface </a:t>
            </a:r>
            <a:r>
              <a:rPr lang="en-US" dirty="0" smtClean="0">
                <a:latin typeface="Lucida Calligraphy" pitchFamily="66" charset="0"/>
              </a:rPr>
              <a:t>fast. One </a:t>
            </a:r>
            <a:r>
              <a:rPr lang="en-US" dirty="0">
                <a:latin typeface="Lucida Calligraphy" pitchFamily="66" charset="0"/>
              </a:rPr>
              <a:t>of the most helpful features of Flutter that speeds up the development process is the </a:t>
            </a:r>
            <a:r>
              <a:rPr lang="en-US" dirty="0" err="1">
                <a:latin typeface="Lucida Calligraphy" pitchFamily="66" charset="0"/>
              </a:rPr>
              <a:t>stateful</a:t>
            </a:r>
            <a:r>
              <a:rPr lang="en-US" dirty="0">
                <a:latin typeface="Lucida Calligraphy" pitchFamily="66" charset="0"/>
              </a:rPr>
              <a:t> hot reload of the application which allows (in most cases) the developer to see the changes in code immediately in the running application without actually restarting the app and losing its state. </a:t>
            </a:r>
          </a:p>
          <a:p>
            <a:pPr algn="ctr"/>
            <a:endParaRPr lang="en-US" dirty="0">
              <a:latin typeface="Lucida Calligraphy" pitchFamily="66" charset="0"/>
            </a:endParaRPr>
          </a:p>
        </p:txBody>
      </p:sp>
      <p:sp>
        <p:nvSpPr>
          <p:cNvPr id="3" name="Title 2"/>
          <p:cNvSpPr>
            <a:spLocks noGrp="1"/>
          </p:cNvSpPr>
          <p:nvPr>
            <p:ph type="title"/>
          </p:nvPr>
        </p:nvSpPr>
        <p:spPr/>
        <p:txBody>
          <a:bodyPr/>
          <a:lstStyle/>
          <a:p>
            <a:r>
              <a:rPr lang="en-US" b="1" dirty="0" smtClean="0"/>
              <a:t>Conclusion</a:t>
            </a:r>
            <a:endParaRPr lang="en-US" dirty="0"/>
          </a:p>
        </p:txBody>
      </p:sp>
    </p:spTree>
    <p:extLst>
      <p:ext uri="{BB962C8B-B14F-4D97-AF65-F5344CB8AC3E}">
        <p14:creationId xmlns:p14="http://schemas.microsoft.com/office/powerpoint/2010/main" val="395541409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0999" y="1719071"/>
            <a:ext cx="8610601" cy="4407408"/>
          </a:xfrm>
        </p:spPr>
        <p:txBody>
          <a:bodyPr>
            <a:normAutofit fontScale="92500" lnSpcReduction="10000"/>
          </a:bodyPr>
          <a:lstStyle/>
          <a:p>
            <a:pPr marL="45720" indent="0">
              <a:buNone/>
            </a:pPr>
            <a:r>
              <a:rPr lang="en-US" sz="1800" dirty="0"/>
              <a:t>1. </a:t>
            </a:r>
            <a:r>
              <a:rPr lang="en-US" sz="1800" dirty="0">
                <a:hlinkClick r:id="rId2"/>
              </a:rPr>
              <a:t>https://codewithandrea.com/articles/migrating-flutter-firebase-app-null-safety</a:t>
            </a:r>
            <a:r>
              <a:rPr lang="en-US" sz="1800" dirty="0" smtClean="0">
                <a:hlinkClick r:id="rId2"/>
              </a:rPr>
              <a:t>/</a:t>
            </a:r>
            <a:endParaRPr lang="en-US" sz="1800" dirty="0" smtClean="0"/>
          </a:p>
          <a:p>
            <a:pPr marL="45720" indent="0">
              <a:buNone/>
            </a:pPr>
            <a:endParaRPr lang="en-US" sz="1800" dirty="0"/>
          </a:p>
          <a:p>
            <a:pPr marL="45720" indent="0">
              <a:buNone/>
            </a:pPr>
            <a:r>
              <a:rPr lang="en-US" sz="1800" dirty="0" smtClean="0"/>
              <a:t>2. l </a:t>
            </a:r>
            <a:r>
              <a:rPr lang="en-US" sz="1800" dirty="0"/>
              <a:t>International Journal for Research in Applied Science &amp; Engineering Technology (</a:t>
            </a:r>
            <a:r>
              <a:rPr lang="en-US" sz="1800" dirty="0" err="1"/>
              <a:t>IJRASEThttps</a:t>
            </a:r>
            <a:r>
              <a:rPr lang="en-US" sz="1800" dirty="0" smtClean="0"/>
              <a:t>: //</a:t>
            </a:r>
            <a:r>
              <a:rPr lang="en-US" sz="1800" dirty="0"/>
              <a:t>www.ijraset.com</a:t>
            </a:r>
            <a:r>
              <a:rPr lang="en-US" sz="1800" dirty="0" smtClean="0"/>
              <a:t>/</a:t>
            </a:r>
          </a:p>
          <a:p>
            <a:pPr marL="45720" indent="0">
              <a:buNone/>
            </a:pPr>
            <a:endParaRPr lang="en-US" sz="1800" dirty="0"/>
          </a:p>
          <a:p>
            <a:pPr marL="45720" indent="0">
              <a:buNone/>
            </a:pPr>
            <a:r>
              <a:rPr lang="en-US" sz="1800" dirty="0" smtClean="0"/>
              <a:t>3. </a:t>
            </a:r>
            <a:r>
              <a:rPr lang="en-US" sz="1800" dirty="0" smtClean="0">
                <a:hlinkClick r:id="rId3"/>
              </a:rPr>
              <a:t>https</a:t>
            </a:r>
            <a:r>
              <a:rPr lang="en-US" sz="1800" dirty="0">
                <a:hlinkClick r:id="rId3"/>
              </a:rPr>
              <a:t>://appinventiv.com/blog/flutter-setting-app-development-trends</a:t>
            </a:r>
            <a:r>
              <a:rPr lang="en-US" sz="1800" dirty="0" smtClean="0">
                <a:hlinkClick r:id="rId3"/>
              </a:rPr>
              <a:t>/</a:t>
            </a:r>
            <a:endParaRPr lang="en-US" sz="1800" dirty="0" smtClean="0"/>
          </a:p>
          <a:p>
            <a:pPr marL="45720" indent="0">
              <a:buNone/>
            </a:pPr>
            <a:endParaRPr lang="en-US" sz="1800" dirty="0"/>
          </a:p>
          <a:p>
            <a:pPr marL="45720" indent="0">
              <a:buNone/>
            </a:pPr>
            <a:r>
              <a:rPr lang="en-US" sz="1800" dirty="0" smtClean="0"/>
              <a:t>4. </a:t>
            </a:r>
            <a:r>
              <a:rPr lang="en-US" sz="1800" dirty="0">
                <a:hlinkClick r:id="rId4"/>
              </a:rPr>
              <a:t>https://</a:t>
            </a:r>
            <a:r>
              <a:rPr lang="en-US" sz="1800" dirty="0" smtClean="0">
                <a:hlinkClick r:id="rId4"/>
              </a:rPr>
              <a:t>www.angularminds.com/blog/article/top-apps-built-with-flutter.html</a:t>
            </a:r>
            <a:endParaRPr lang="en-US" sz="1800" dirty="0" smtClean="0"/>
          </a:p>
          <a:p>
            <a:pPr marL="45720" indent="0">
              <a:buNone/>
            </a:pPr>
            <a:endParaRPr lang="en-US" sz="1800" dirty="0"/>
          </a:p>
          <a:p>
            <a:pPr marL="45720" indent="0">
              <a:buNone/>
            </a:pPr>
            <a:r>
              <a:rPr lang="en-US" dirty="0" smtClean="0"/>
              <a:t>5. </a:t>
            </a:r>
            <a:r>
              <a:rPr lang="en-US" dirty="0" smtClean="0">
                <a:hlinkClick r:id="rId5"/>
              </a:rPr>
              <a:t>https://firebase.google.com/docs/flutter/setup?platform=ios</a:t>
            </a:r>
            <a:endParaRPr lang="en-US" dirty="0" smtClean="0"/>
          </a:p>
          <a:p>
            <a:pPr marL="45720" indent="0">
              <a:buNone/>
            </a:pPr>
            <a:endParaRPr lang="en-US" dirty="0" smtClean="0"/>
          </a:p>
          <a:p>
            <a:pPr marL="45720" indent="0">
              <a:buNone/>
            </a:pPr>
            <a:endParaRPr lang="en-US" dirty="0"/>
          </a:p>
          <a:p>
            <a:pPr marL="45720" indent="0">
              <a:buNone/>
            </a:pPr>
            <a:r>
              <a:rPr lang="en-US" dirty="0"/>
              <a:t> </a:t>
            </a:r>
          </a:p>
        </p:txBody>
      </p:sp>
      <p:sp>
        <p:nvSpPr>
          <p:cNvPr id="3" name="Title 2"/>
          <p:cNvSpPr>
            <a:spLocks noGrp="1"/>
          </p:cNvSpPr>
          <p:nvPr>
            <p:ph type="title"/>
          </p:nvPr>
        </p:nvSpPr>
        <p:spPr/>
        <p:txBody>
          <a:bodyPr/>
          <a:lstStyle/>
          <a:p>
            <a:r>
              <a:rPr lang="en-US" dirty="0" smtClean="0"/>
              <a:t>Reference </a:t>
            </a:r>
            <a:endParaRPr lang="en-US" dirty="0"/>
          </a:p>
        </p:txBody>
      </p:sp>
    </p:spTree>
    <p:extLst>
      <p:ext uri="{BB962C8B-B14F-4D97-AF65-F5344CB8AC3E}">
        <p14:creationId xmlns:p14="http://schemas.microsoft.com/office/powerpoint/2010/main" val="287169522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b="12148"/>
          <a:stretch/>
        </p:blipFill>
        <p:spPr>
          <a:xfrm>
            <a:off x="990600" y="2057400"/>
            <a:ext cx="7162800" cy="3959439"/>
          </a:xfrm>
        </p:spPr>
      </p:pic>
    </p:spTree>
    <p:extLst>
      <p:ext uri="{BB962C8B-B14F-4D97-AF65-F5344CB8AC3E}">
        <p14:creationId xmlns:p14="http://schemas.microsoft.com/office/powerpoint/2010/main" val="34772451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rid">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Grid</Template>
  <TotalTime>466</TotalTime>
  <Words>683</Words>
  <Application>Microsoft Office PowerPoint</Application>
  <PresentationFormat>On-screen Show (4:3)</PresentationFormat>
  <Paragraphs>76</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Grid</vt:lpstr>
      <vt:lpstr>Deployment of  app using Google cloud platform (GCP)</vt:lpstr>
      <vt:lpstr>Introduction </vt:lpstr>
      <vt:lpstr>PowerPoint Presentation</vt:lpstr>
      <vt:lpstr>PowerPoint Presentation</vt:lpstr>
      <vt:lpstr>Literature survey </vt:lpstr>
      <vt:lpstr>PowerPoint Presentation</vt:lpstr>
      <vt:lpstr>Current Case study</vt:lpstr>
      <vt:lpstr>PowerPoint Presentation</vt:lpstr>
      <vt:lpstr>Current Trends in Topic</vt:lpstr>
      <vt:lpstr>PowerPoint Presentation</vt:lpstr>
      <vt:lpstr>Tools and Technology </vt:lpstr>
      <vt:lpstr>Adding Firebase to your Flutter app</vt:lpstr>
      <vt:lpstr>Conclusion</vt:lpstr>
      <vt:lpstr>Reference </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Rubicon</dc:creator>
  <cp:lastModifiedBy>Rubicon</cp:lastModifiedBy>
  <cp:revision>27</cp:revision>
  <dcterms:created xsi:type="dcterms:W3CDTF">2006-08-16T00:00:00Z</dcterms:created>
  <dcterms:modified xsi:type="dcterms:W3CDTF">2021-09-28T13:49:17Z</dcterms:modified>
</cp:coreProperties>
</file>