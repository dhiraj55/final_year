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7010400" y="152399"/>
            <a:ext cx="1981200" cy="65562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400" y="153923"/>
            <a:ext cx="6705600" cy="6553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7010400" y="2052960"/>
            <a:ext cx="1981200" cy="1828800"/>
          </a:xfrm>
        </p:spPr>
        <p:txBody>
          <a:bodyPr anchor="ctr">
            <a:normAutofit/>
          </a:bodyPr>
          <a:lstStyle>
            <a:lvl1pPr marL="0" indent="0" algn="l">
              <a:buNone/>
              <a:defRPr sz="19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0" name="Date Placeholder 9"/>
          <p:cNvSpPr>
            <a:spLocks noGrp="1"/>
          </p:cNvSpPr>
          <p:nvPr>
            <p:ph type="dt" sz="half" idx="10"/>
          </p:nvPr>
        </p:nvSpPr>
        <p:spPr/>
        <p:txBody>
          <a:bodyPr/>
          <a:lstStyle>
            <a:lvl1pPr>
              <a:defRPr>
                <a:solidFill>
                  <a:schemeClr val="bg2"/>
                </a:solidFill>
              </a:defRPr>
            </a:lvl1pPr>
          </a:lstStyle>
          <a:p>
            <a:fld id="{1D8BD707-D9CF-40AE-B4C6-C98DA3205C09}" type="datetimeFigureOut">
              <a:rPr lang="en-US" smtClean="0"/>
              <a:pPr/>
              <a:t>11/11/2021</a:t>
            </a:fld>
            <a:endParaRPr lang="en-US"/>
          </a:p>
        </p:txBody>
      </p:sp>
      <p:sp>
        <p:nvSpPr>
          <p:cNvPr id="11" name="Slide Number Placeholder 10"/>
          <p:cNvSpPr>
            <a:spLocks noGrp="1"/>
          </p:cNvSpPr>
          <p:nvPr>
            <p:ph type="sldNum" sz="quarter" idx="11"/>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12" name="Footer Placeholder 11"/>
          <p:cNvSpPr>
            <a:spLocks noGrp="1"/>
          </p:cNvSpPr>
          <p:nvPr>
            <p:ph type="ftr" sz="quarter" idx="12"/>
          </p:nvPr>
        </p:nvSpPr>
        <p:spPr/>
        <p:txBody>
          <a:bodyPr/>
          <a:lstStyle>
            <a:lvl1pPr>
              <a:defRPr>
                <a:solidFill>
                  <a:schemeClr val="bg2"/>
                </a:solidFill>
              </a:defRPr>
            </a:lvl1pPr>
          </a:lstStyle>
          <a:p>
            <a:endParaRPr lang="en-US"/>
          </a:p>
        </p:txBody>
      </p:sp>
      <p:sp>
        <p:nvSpPr>
          <p:cNvPr id="13" name="Title 12"/>
          <p:cNvSpPr>
            <a:spLocks noGrp="1"/>
          </p:cNvSpPr>
          <p:nvPr>
            <p:ph type="title"/>
          </p:nvPr>
        </p:nvSpPr>
        <p:spPr>
          <a:xfrm>
            <a:off x="457200" y="2052960"/>
            <a:ext cx="6324600" cy="1828800"/>
          </a:xfrm>
        </p:spPr>
        <p:txBody>
          <a:bodyPr/>
          <a:lstStyle>
            <a:lvl1pPr algn="r">
              <a:defRPr sz="4200" spc="150" baseline="0"/>
            </a:lvl1pPr>
          </a:lstStyle>
          <a:p>
            <a:r>
              <a:rPr lang="en-US" smtClean="0"/>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6"/>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7010400" y="152399"/>
            <a:ext cx="1981200" cy="6556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400" y="153923"/>
            <a:ext cx="6705600" cy="6553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7162799" y="2892277"/>
            <a:ext cx="1600201" cy="1645920"/>
          </a:xfrm>
        </p:spPr>
        <p:txBody>
          <a:bodyPr anchor="ctr"/>
          <a:lstStyle>
            <a:lvl1pPr marL="0" indent="0">
              <a:buNone/>
              <a:defRPr sz="200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9" name="Date Placeholder 8"/>
          <p:cNvSpPr>
            <a:spLocks noGrp="1"/>
          </p:cNvSpPr>
          <p:nvPr>
            <p:ph type="dt" sz="half" idx="10"/>
          </p:nvPr>
        </p:nvSpPr>
        <p:spPr/>
        <p:txBody>
          <a:bodyPr/>
          <a:lstStyle>
            <a:lvl1pPr>
              <a:defRPr>
                <a:solidFill>
                  <a:srgbClr val="FFFFFF"/>
                </a:solidFill>
              </a:defRPr>
            </a:lvl1pPr>
          </a:lstStyle>
          <a:p>
            <a:fld id="{1D8BD707-D9CF-40AE-B4C6-C98DA3205C09}" type="datetimeFigureOut">
              <a:rPr lang="en-US" smtClean="0"/>
              <a:pPr/>
              <a:t>11/11/2021</a:t>
            </a:fld>
            <a:endParaRPr lang="en-US"/>
          </a:p>
        </p:txBody>
      </p:sp>
      <p:sp>
        <p:nvSpPr>
          <p:cNvPr id="10" name="Slide Number Placeholder 9"/>
          <p:cNvSpPr>
            <a:spLocks noGrp="1"/>
          </p:cNvSpPr>
          <p:nvPr>
            <p:ph type="sldNum" sz="quarter" idx="11"/>
          </p:nvPr>
        </p:nvSpPr>
        <p:spPr/>
        <p:txBody>
          <a:bodyPr/>
          <a:lstStyle>
            <a:lvl1pPr>
              <a:defRPr>
                <a:solidFill>
                  <a:schemeClr val="bg2"/>
                </a:solidFill>
              </a:defRPr>
            </a:lvl1pPr>
          </a:lstStyle>
          <a:p>
            <a:fld id="{B6F15528-21DE-4FAA-801E-634DDDAF4B2B}" type="slidenum">
              <a:rPr lang="en-US" smtClean="0"/>
              <a:pPr/>
              <a:t>‹#›</a:t>
            </a:fld>
            <a:endParaRPr lang="en-US"/>
          </a:p>
        </p:txBody>
      </p:sp>
      <p:sp>
        <p:nvSpPr>
          <p:cNvPr id="11" name="Footer Placeholder 10"/>
          <p:cNvSpPr>
            <a:spLocks noGrp="1"/>
          </p:cNvSpPr>
          <p:nvPr>
            <p:ph type="ftr" sz="quarter" idx="12"/>
          </p:nvPr>
        </p:nvSpPr>
        <p:spPr/>
        <p:txBody>
          <a:bodyPr/>
          <a:lstStyle>
            <a:lvl1pPr>
              <a:defRPr>
                <a:solidFill>
                  <a:srgbClr val="FFFFFF"/>
                </a:solidFill>
              </a:defRPr>
            </a:lvl1pPr>
          </a:lstStyle>
          <a:p>
            <a:endParaRPr lang="en-US"/>
          </a:p>
        </p:txBody>
      </p:sp>
      <p:sp>
        <p:nvSpPr>
          <p:cNvPr id="12" name="Title 11"/>
          <p:cNvSpPr>
            <a:spLocks noGrp="1"/>
          </p:cNvSpPr>
          <p:nvPr>
            <p:ph type="title"/>
          </p:nvPr>
        </p:nvSpPr>
        <p:spPr>
          <a:xfrm>
            <a:off x="381000" y="2892277"/>
            <a:ext cx="6324600" cy="1645920"/>
          </a:xfrm>
        </p:spPr>
        <p:txBody>
          <a:bodyPr/>
          <a:lstStyle>
            <a:lvl1pPr algn="r">
              <a:defRPr sz="4200" spc="150" baseline="0"/>
            </a:lvl1pPr>
          </a:lstStyle>
          <a:p>
            <a:r>
              <a:rPr lang="en-US" smtClean="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719072"/>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719072"/>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11/11/2021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722438"/>
            <a:ext cx="4040188"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438399"/>
            <a:ext cx="4040188"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722438"/>
            <a:ext cx="4041775"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438399"/>
            <a:ext cx="4041775"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11/11/2021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0" name="Title 9"/>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8BD707-D9CF-40AE-B4C6-C98DA3205C09}" type="datetimeFigureOut">
              <a:rPr lang="en-US" smtClean="0"/>
              <a:pPr/>
              <a:t>11/11/2021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Title 5"/>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52400" y="150919"/>
            <a:ext cx="8831802" cy="6556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fld id="{1D8BD707-D9CF-40AE-B4C6-C98DA3205C09}" type="datetimeFigureOut">
              <a:rPr lang="en-US" smtClean="0"/>
              <a:pPr/>
              <a:t>11/11/2021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2"/>
      </p:bgRef>
    </p:bg>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010400" y="150876"/>
            <a:ext cx="1981200" cy="65562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p:cNvSpPr/>
          <p:nvPr/>
        </p:nvSpPr>
        <p:spPr>
          <a:xfrm>
            <a:off x="152400" y="152400"/>
            <a:ext cx="6705600" cy="6553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09600" y="304800"/>
            <a:ext cx="58674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7159752" y="2130552"/>
            <a:ext cx="1673352" cy="2816352"/>
          </a:xfrm>
        </p:spPr>
        <p:txBody>
          <a:bodyPr tIns="0"/>
          <a:lstStyle>
            <a:lvl1pPr marL="0" indent="0">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ln>
            <a:noFill/>
          </a:ln>
        </p:spPr>
        <p:txBody>
          <a:bodyPr/>
          <a:lstStyle>
            <a:lvl1pPr>
              <a:defRPr>
                <a:solidFill>
                  <a:srgbClr val="FFFFFF"/>
                </a:solidFill>
              </a:defRPr>
            </a:lvl1pPr>
          </a:lstStyle>
          <a:p>
            <a:fld id="{B6F15528-21DE-4FAA-801E-634DDDAF4B2B}" type="slidenum">
              <a:rPr lang="en-US" smtClean="0"/>
              <a:pPr/>
              <a:t>‹#›</a:t>
            </a:fld>
            <a:endParaRPr lang="en-US"/>
          </a:p>
        </p:txBody>
      </p:sp>
      <p:sp>
        <p:nvSpPr>
          <p:cNvPr id="11" name="Title 10"/>
          <p:cNvSpPr>
            <a:spLocks noGrp="1"/>
          </p:cNvSpPr>
          <p:nvPr>
            <p:ph type="title"/>
          </p:nvPr>
        </p:nvSpPr>
        <p:spPr>
          <a:xfrm>
            <a:off x="7159752" y="457200"/>
            <a:ext cx="1675660" cy="1673352"/>
          </a:xfrm>
        </p:spPr>
        <p:txBody>
          <a:bodyPr anchor="b"/>
          <a:lstStyle>
            <a:lvl1pPr algn="l">
              <a:defRPr sz="2000" spc="150" baseline="0"/>
            </a:lvl1pPr>
          </a:lstStyle>
          <a:p>
            <a:r>
              <a:rPr lang="en-US" smtClean="0"/>
              <a:t>Click to edit Master title style</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p:cNvSpPr/>
          <p:nvPr/>
        </p:nvSpPr>
        <p:spPr>
          <a:xfrm>
            <a:off x="7010400" y="150876"/>
            <a:ext cx="1981200" cy="65562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152400" y="152400"/>
            <a:ext cx="6705600" cy="6553200"/>
          </a:xfrm>
        </p:spPr>
        <p:txBody>
          <a:bodyPr anchor="ct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7162800" y="2133600"/>
            <a:ext cx="1676400" cy="2971800"/>
          </a:xfrm>
        </p:spPr>
        <p:txBody>
          <a:bodyPr tIns="0"/>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0" name="Title 9"/>
          <p:cNvSpPr>
            <a:spLocks noGrp="1"/>
          </p:cNvSpPr>
          <p:nvPr>
            <p:ph type="title"/>
          </p:nvPr>
        </p:nvSpPr>
        <p:spPr>
          <a:xfrm>
            <a:off x="7162800" y="460248"/>
            <a:ext cx="1676400" cy="1673352"/>
          </a:xfrm>
        </p:spPr>
        <p:txBody>
          <a:bodyPr anchor="b"/>
          <a:lstStyle>
            <a:lvl1pPr algn="l">
              <a:defRPr sz="2000" spc="150" baseline="0">
                <a:solidFill>
                  <a:schemeClr val="tx2"/>
                </a:solidFill>
              </a:defRPr>
            </a:lvl1pPr>
          </a:lstStyle>
          <a:p>
            <a:r>
              <a:rPr lang="en-US" smtClean="0"/>
              <a:t>Click to edit Master title style</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52400" y="147319"/>
            <a:ext cx="6705600" cy="6556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010400" y="147319"/>
            <a:ext cx="1956046" cy="6556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7162800" y="274638"/>
            <a:ext cx="1676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bg2"/>
                </a:solidFill>
              </a:defRPr>
            </a:lvl1p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152400" y="1634971"/>
            <a:ext cx="8831802" cy="504547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399" y="152400"/>
            <a:ext cx="8814047" cy="13464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381000" y="355847"/>
            <a:ext cx="8381260" cy="105439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380999" y="1719071"/>
            <a:ext cx="8407893" cy="440740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370888" y="6356350"/>
            <a:ext cx="2133600" cy="274320"/>
          </a:xfrm>
          <a:prstGeom prst="rect">
            <a:avLst/>
          </a:prstGeom>
        </p:spPr>
        <p:txBody>
          <a:bodyPr vert="horz" lIns="91440" tIns="45720" rIns="91440" bIns="45720" rtlCol="0" anchor="ctr"/>
          <a:lstStyle>
            <a:lvl1pPr algn="l">
              <a:defRPr sz="1100">
                <a:solidFill>
                  <a:schemeClr val="tx2"/>
                </a:solidFill>
              </a:defRPr>
            </a:lvl1pPr>
          </a:lstStyle>
          <a:p>
            <a:fld id="{1D8BD707-D9CF-40AE-B4C6-C98DA3205C09}" type="datetimeFigureOut">
              <a:rPr lang="en-US" smtClean="0"/>
              <a:pPr/>
              <a:t>11/11/2021</a:t>
            </a:fld>
            <a:endParaRPr lang="en-US"/>
          </a:p>
        </p:txBody>
      </p:sp>
      <p:sp>
        <p:nvSpPr>
          <p:cNvPr id="5" name="Footer Placeholder 4"/>
          <p:cNvSpPr>
            <a:spLocks noGrp="1"/>
          </p:cNvSpPr>
          <p:nvPr>
            <p:ph type="ftr" sz="quarter" idx="3"/>
          </p:nvPr>
        </p:nvSpPr>
        <p:spPr>
          <a:xfrm>
            <a:off x="3048000" y="6356350"/>
            <a:ext cx="3352800" cy="274320"/>
          </a:xfrm>
          <a:prstGeom prst="rect">
            <a:avLst/>
          </a:prstGeom>
        </p:spPr>
        <p:txBody>
          <a:bodyPr vert="horz" lIns="91440" tIns="45720" rIns="91440" bIns="45720" rtlCol="0" anchor="ctr"/>
          <a:lstStyle>
            <a:lvl1pPr algn="ctr">
              <a:defRPr sz="1100">
                <a:solidFill>
                  <a:schemeClr val="tx2"/>
                </a:solidFill>
              </a:defRPr>
            </a:lvl1pPr>
          </a:lstStyle>
          <a:p>
            <a:endParaRPr lang="en-US"/>
          </a:p>
        </p:txBody>
      </p:sp>
      <p:sp>
        <p:nvSpPr>
          <p:cNvPr id="6" name="Slide Number Placeholder 5"/>
          <p:cNvSpPr>
            <a:spLocks noGrp="1"/>
          </p:cNvSpPr>
          <p:nvPr>
            <p:ph type="sldNum" sz="quarter" idx="4"/>
          </p:nvPr>
        </p:nvSpPr>
        <p:spPr>
          <a:xfrm>
            <a:off x="8234680" y="6355080"/>
            <a:ext cx="582966" cy="274320"/>
          </a:xfrm>
          <a:prstGeom prst="rect">
            <a:avLst/>
          </a:prstGeom>
          <a:ln w="19050">
            <a:noFill/>
          </a:ln>
        </p:spPr>
        <p:txBody>
          <a:bodyPr vert="horz" lIns="91440" tIns="45720" rIns="91440" bIns="45720" rtlCol="0" anchor="ctr"/>
          <a:lstStyle>
            <a:lvl1pPr algn="ctr">
              <a:defRPr sz="1100">
                <a:solidFill>
                  <a:schemeClr val="tx2"/>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3200" kern="1200" cap="all" spc="200" baseline="0">
          <a:ln>
            <a:noFill/>
          </a:ln>
          <a:solidFill>
            <a:schemeClr val="bg1"/>
          </a:solidFill>
          <a:effectLst/>
          <a:latin typeface="+mj-lt"/>
          <a:ea typeface="+mj-ea"/>
          <a:cs typeface="+mj-cs"/>
        </a:defRPr>
      </a:lvl1pPr>
    </p:titleStyle>
    <p:bodyStyle>
      <a:lvl1pPr marL="274320" indent="-228600" algn="l" defTabSz="914400" rtl="0" eaLnBrk="1" latinLnBrk="0" hangingPunct="1">
        <a:spcBef>
          <a:spcPct val="20000"/>
        </a:spcBef>
        <a:buClr>
          <a:schemeClr val="accent1"/>
        </a:buClr>
        <a:buFont typeface="Wingdings 2" pitchFamily="18" charset="2"/>
        <a:buChar char=""/>
        <a:defRPr sz="2000" kern="1200" spc="150" baseline="0">
          <a:solidFill>
            <a:schemeClr val="tx2"/>
          </a:solidFill>
          <a:latin typeface="+mn-lt"/>
          <a:ea typeface="+mn-ea"/>
          <a:cs typeface="+mn-cs"/>
        </a:defRPr>
      </a:lvl1pPr>
      <a:lvl2pPr marL="548640" indent="-182880" algn="l" defTabSz="914400" rtl="0" eaLnBrk="1" latinLnBrk="0" hangingPunct="1">
        <a:spcBef>
          <a:spcPct val="20000"/>
        </a:spcBef>
        <a:buClr>
          <a:schemeClr val="accent2"/>
        </a:buClr>
        <a:buFont typeface="Wingdings" pitchFamily="2" charset="2"/>
        <a:buChar char="§"/>
        <a:defRPr sz="1800" kern="1200" spc="100" baseline="0">
          <a:solidFill>
            <a:schemeClr val="tx2"/>
          </a:solidFill>
          <a:latin typeface="+mn-lt"/>
          <a:ea typeface="+mn-ea"/>
          <a:cs typeface="+mn-cs"/>
        </a:defRPr>
      </a:lvl2pPr>
      <a:lvl3pPr marL="822960" indent="-182880" algn="l" defTabSz="914400" rtl="0" eaLnBrk="1" latinLnBrk="0" hangingPunct="1">
        <a:spcBef>
          <a:spcPct val="20000"/>
        </a:spcBef>
        <a:buClr>
          <a:schemeClr val="accent3"/>
        </a:buClr>
        <a:buFont typeface="Wingdings" pitchFamily="2" charset="2"/>
        <a:buChar char="§"/>
        <a:defRPr sz="1600" kern="1200" spc="100" baseline="0">
          <a:solidFill>
            <a:schemeClr val="tx2"/>
          </a:solidFill>
          <a:latin typeface="+mn-lt"/>
          <a:ea typeface="+mn-ea"/>
          <a:cs typeface="+mn-cs"/>
        </a:defRPr>
      </a:lvl3pPr>
      <a:lvl4pPr marL="1097280" indent="-182880" algn="l" defTabSz="914400" rtl="0" eaLnBrk="1" latinLnBrk="0" hangingPunct="1">
        <a:spcBef>
          <a:spcPct val="20000"/>
        </a:spcBef>
        <a:buClr>
          <a:schemeClr val="accent4"/>
        </a:buClr>
        <a:buFont typeface="Wingdings" pitchFamily="2" charset="2"/>
        <a:buChar char="§"/>
        <a:defRPr sz="1400" kern="1200">
          <a:solidFill>
            <a:schemeClr val="tx2"/>
          </a:solidFill>
          <a:latin typeface="+mn-lt"/>
          <a:ea typeface="+mn-ea"/>
          <a:cs typeface="+mn-cs"/>
        </a:defRPr>
      </a:lvl4pPr>
      <a:lvl5pPr marL="1280160" indent="-182880" algn="l" defTabSz="914400" rtl="0" eaLnBrk="1" latinLnBrk="0" hangingPunct="1">
        <a:spcBef>
          <a:spcPct val="20000"/>
        </a:spcBef>
        <a:buClr>
          <a:schemeClr val="accent6"/>
        </a:buClr>
        <a:buFont typeface="Wingdings" pitchFamily="2" charset="2"/>
        <a:buChar char="§"/>
        <a:defRPr sz="1300" kern="1200" spc="100" baseline="0">
          <a:solidFill>
            <a:schemeClr val="tx2"/>
          </a:solidFill>
          <a:latin typeface="+mn-lt"/>
          <a:ea typeface="+mn-ea"/>
          <a:cs typeface="+mn-cs"/>
        </a:defRPr>
      </a:lvl5pPr>
      <a:lvl6pPr marL="1554480" indent="-182880" algn="l" defTabSz="914400" rtl="0" eaLnBrk="1" latinLnBrk="0" hangingPunct="1">
        <a:spcBef>
          <a:spcPct val="20000"/>
        </a:spcBef>
        <a:buClr>
          <a:schemeClr val="accent1"/>
        </a:buClr>
        <a:buFont typeface="Wingdings" pitchFamily="2" charset="2"/>
        <a:buChar char="§"/>
        <a:defRPr sz="1200" kern="1200">
          <a:solidFill>
            <a:schemeClr val="tx2"/>
          </a:solidFill>
          <a:latin typeface="+mn-lt"/>
          <a:ea typeface="+mn-ea"/>
          <a:cs typeface="+mn-cs"/>
        </a:defRPr>
      </a:lvl6pPr>
      <a:lvl7pPr marL="1828800" indent="-182880" algn="l" defTabSz="914400" rtl="0" eaLnBrk="1" latinLnBrk="0" hangingPunct="1">
        <a:spcBef>
          <a:spcPct val="20000"/>
        </a:spcBef>
        <a:buClr>
          <a:schemeClr val="accent2"/>
        </a:buClr>
        <a:buFont typeface="Wingdings" pitchFamily="2" charset="2"/>
        <a:buChar char="§"/>
        <a:defRPr sz="1200" kern="1200">
          <a:solidFill>
            <a:schemeClr val="tx2"/>
          </a:solidFill>
          <a:latin typeface="+mn-lt"/>
          <a:ea typeface="+mn-ea"/>
          <a:cs typeface="+mn-cs"/>
        </a:defRPr>
      </a:lvl7pPr>
      <a:lvl8pPr marL="2103120" indent="-182880" algn="l" defTabSz="914400" rtl="0" eaLnBrk="1" latinLnBrk="0" hangingPunct="1">
        <a:spcBef>
          <a:spcPct val="20000"/>
        </a:spcBef>
        <a:buClr>
          <a:schemeClr val="accent3"/>
        </a:buClr>
        <a:buFont typeface="Wingdings" pitchFamily="2" charset="2"/>
        <a:buChar char="§"/>
        <a:defRPr sz="1200" kern="1200">
          <a:solidFill>
            <a:schemeClr val="tx2"/>
          </a:solidFill>
          <a:latin typeface="+mn-lt"/>
          <a:ea typeface="+mn-ea"/>
          <a:cs typeface="+mn-cs"/>
        </a:defRPr>
      </a:lvl8pPr>
      <a:lvl9pPr marL="2377440" indent="-182880" algn="l" defTabSz="914400" rtl="0" eaLnBrk="1" latinLnBrk="0" hangingPunct="1">
        <a:spcBef>
          <a:spcPct val="20000"/>
        </a:spcBef>
        <a:buClr>
          <a:schemeClr val="accent5"/>
        </a:buClr>
        <a:buFont typeface="Wingdings" pitchFamily="2" charset="2"/>
        <a:buChar char="§"/>
        <a:defRPr sz="12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0" y="5410200"/>
            <a:ext cx="5181600" cy="1828800"/>
          </a:xfrm>
        </p:spPr>
        <p:txBody>
          <a:bodyPr>
            <a:normAutofit/>
          </a:bodyPr>
          <a:lstStyle/>
          <a:p>
            <a:pPr marL="309880" marR="647065">
              <a:spcBef>
                <a:spcPts val="1350"/>
              </a:spcBef>
              <a:spcAft>
                <a:spcPts val="0"/>
              </a:spcAft>
            </a:pPr>
            <a:r>
              <a:rPr lang="en-US" sz="2000" b="1" dirty="0" smtClean="0">
                <a:latin typeface="Times New Roman" panose="02020603050405020304" pitchFamily="18" charset="0"/>
                <a:ea typeface="Times New Roman" panose="02020603050405020304" pitchFamily="18" charset="0"/>
              </a:rPr>
              <a:t>          Submitted </a:t>
            </a:r>
            <a:r>
              <a:rPr lang="en-US" sz="2000" b="1" dirty="0">
                <a:latin typeface="Times New Roman" panose="02020603050405020304" pitchFamily="18" charset="0"/>
                <a:ea typeface="Times New Roman" panose="02020603050405020304" pitchFamily="18" charset="0"/>
              </a:rPr>
              <a:t>by:-</a:t>
            </a:r>
            <a:endParaRPr lang="en-IN" sz="2000" dirty="0">
              <a:latin typeface="Times New Roman" panose="02020603050405020304" pitchFamily="18" charset="0"/>
              <a:ea typeface="Times New Roman" panose="02020603050405020304" pitchFamily="18" charset="0"/>
            </a:endParaRPr>
          </a:p>
          <a:p>
            <a:pPr lvl="1">
              <a:lnSpc>
                <a:spcPct val="115000"/>
              </a:lnSpc>
              <a:spcBef>
                <a:spcPts val="685"/>
              </a:spcBef>
              <a:tabLst>
                <a:tab pos="1819910" algn="l"/>
              </a:tabLst>
            </a:pPr>
            <a:r>
              <a:rPr lang="en-US" sz="2000" b="1" dirty="0" err="1" smtClean="0">
                <a:solidFill>
                  <a:schemeClr val="bg1"/>
                </a:solidFill>
                <a:latin typeface="Times New Roman" panose="02020603050405020304" pitchFamily="18" charset="0"/>
                <a:ea typeface="Times New Roman" panose="02020603050405020304" pitchFamily="18" charset="0"/>
              </a:rPr>
              <a:t>Dhiraj</a:t>
            </a:r>
            <a:r>
              <a:rPr lang="en-US" sz="2000" b="1" dirty="0" smtClean="0">
                <a:solidFill>
                  <a:schemeClr val="bg1"/>
                </a:solidFill>
                <a:latin typeface="Times New Roman" panose="02020603050405020304" pitchFamily="18" charset="0"/>
                <a:ea typeface="Times New Roman" panose="02020603050405020304" pitchFamily="18" charset="0"/>
              </a:rPr>
              <a:t> </a:t>
            </a:r>
            <a:r>
              <a:rPr lang="en-US" sz="2000" b="1" dirty="0" err="1" smtClean="0">
                <a:solidFill>
                  <a:schemeClr val="bg1"/>
                </a:solidFill>
                <a:latin typeface="Times New Roman" panose="02020603050405020304" pitchFamily="18" charset="0"/>
                <a:ea typeface="Times New Roman" panose="02020603050405020304" pitchFamily="18" charset="0"/>
              </a:rPr>
              <a:t>Bodake</a:t>
            </a:r>
            <a:r>
              <a:rPr lang="en-US" sz="2000" b="1" dirty="0" smtClean="0">
                <a:solidFill>
                  <a:schemeClr val="bg1"/>
                </a:solidFill>
                <a:latin typeface="Times New Roman" panose="02020603050405020304" pitchFamily="18" charset="0"/>
                <a:ea typeface="Times New Roman" panose="02020603050405020304" pitchFamily="18" charset="0"/>
              </a:rPr>
              <a:t>(18141216)</a:t>
            </a:r>
            <a:endParaRPr lang="en-IN" sz="2000" dirty="0">
              <a:solidFill>
                <a:schemeClr val="bg1"/>
              </a:solidFill>
              <a:latin typeface="Times New Roman" panose="02020603050405020304" pitchFamily="18" charset="0"/>
              <a:ea typeface="Times New Roman" panose="02020603050405020304" pitchFamily="18" charset="0"/>
            </a:endParaRPr>
          </a:p>
          <a:p>
            <a:pPr marL="800100" lvl="1" indent="-342900">
              <a:lnSpc>
                <a:spcPct val="115000"/>
              </a:lnSpc>
              <a:spcBef>
                <a:spcPts val="685"/>
              </a:spcBef>
              <a:buFont typeface="+mj-lt"/>
              <a:buAutoNum type="arabicPeriod"/>
              <a:tabLst>
                <a:tab pos="1819910" algn="l"/>
              </a:tabLst>
            </a:pPr>
            <a:endParaRPr lang="en-IN" sz="1400" dirty="0">
              <a:latin typeface="Times New Roman" panose="02020603050405020304" pitchFamily="18" charset="0"/>
              <a:ea typeface="Times New Roman" panose="02020603050405020304" pitchFamily="18" charset="0"/>
            </a:endParaRPr>
          </a:p>
          <a:p>
            <a:endParaRPr lang="en-US" dirty="0"/>
          </a:p>
        </p:txBody>
      </p:sp>
      <p:sp>
        <p:nvSpPr>
          <p:cNvPr id="2" name="Title 1"/>
          <p:cNvSpPr>
            <a:spLocks noGrp="1"/>
          </p:cNvSpPr>
          <p:nvPr>
            <p:ph type="title"/>
          </p:nvPr>
        </p:nvSpPr>
        <p:spPr>
          <a:xfrm>
            <a:off x="-200891" y="1087582"/>
            <a:ext cx="7239000" cy="1828800"/>
          </a:xfrm>
        </p:spPr>
        <p:txBody>
          <a:bodyPr/>
          <a:lstStyle/>
          <a:p>
            <a:pPr algn="ctr"/>
            <a:r>
              <a:rPr lang="en-US" sz="4400" b="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a:t>
            </a:r>
            <a:r>
              <a:rPr lang="en-IN" altLang="en-US" sz="4400" b="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Automation With </a:t>
            </a:r>
            <a:r>
              <a:rPr lang="en-IN" altLang="en-US" sz="4400" b="1" dirty="0" err="1">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Ansible</a:t>
            </a:r>
            <a:r>
              <a:rPr lang="en-IN" altLang="en-US" sz="4400" b="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 </a:t>
            </a:r>
            <a:r>
              <a:rPr lang="en-IN" altLang="en-US" sz="4400" b="1" dirty="0" err="1">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DevOps</a:t>
            </a:r>
            <a:r>
              <a:rPr lang="en-US" sz="4400" b="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a:t>
            </a:r>
            <a:r>
              <a:rPr lang="en-IN" sz="4400" dirty="0">
                <a:solidFill>
                  <a:schemeClr val="accent1">
                    <a:lumMod val="75000"/>
                  </a:schemeClr>
                </a:solidFill>
                <a:effectLst>
                  <a:outerShdw blurRad="38100" dist="38100" dir="2700000" algn="tl">
                    <a:srgbClr val="000000">
                      <a:alpha val="43137"/>
                    </a:srgbClr>
                  </a:outerShdw>
                </a:effectLst>
              </a:rPr>
              <a:t/>
            </a:r>
            <a:br>
              <a:rPr lang="en-IN" sz="4400" dirty="0">
                <a:solidFill>
                  <a:schemeClr val="accent1">
                    <a:lumMod val="75000"/>
                  </a:schemeClr>
                </a:solidFill>
                <a:effectLst>
                  <a:outerShdw blurRad="38100" dist="38100" dir="2700000" algn="tl">
                    <a:srgbClr val="000000">
                      <a:alpha val="43137"/>
                    </a:srgbClr>
                  </a:outerShdw>
                </a:effectLst>
              </a:rPr>
            </a:br>
            <a:r>
              <a:rPr lang="en-IN" sz="4400" dirty="0" smtClean="0">
                <a:solidFill>
                  <a:schemeClr val="accent1">
                    <a:lumMod val="75000"/>
                  </a:schemeClr>
                </a:solidFill>
                <a:effectLst>
                  <a:outerShdw blurRad="38100" dist="38100" dir="2700000" algn="tl">
                    <a:srgbClr val="000000">
                      <a:alpha val="43137"/>
                    </a:srgbClr>
                  </a:outerShdw>
                </a:effectLst>
              </a:rPr>
              <a:t>RH294</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0400" y="762000"/>
            <a:ext cx="2133600" cy="2133600"/>
          </a:xfrm>
          <a:prstGeom prst="rect">
            <a:avLst/>
          </a:prstGeom>
        </p:spPr>
      </p:pic>
    </p:spTree>
    <p:extLst>
      <p:ext uri="{BB962C8B-B14F-4D97-AF65-F5344CB8AC3E}">
        <p14:creationId xmlns:p14="http://schemas.microsoft.com/office/powerpoint/2010/main" val="5606412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nSpc>
                <a:spcPct val="200000"/>
              </a:lnSpc>
            </a:pPr>
            <a:r>
              <a:rPr lang="en-IN" b="1" dirty="0">
                <a:solidFill>
                  <a:schemeClr val="tx1"/>
                </a:solidFill>
                <a:sym typeface="+mn-ea"/>
              </a:rPr>
              <a:t>Introduction</a:t>
            </a:r>
            <a:endParaRPr lang="en-US" b="1" dirty="0">
              <a:solidFill>
                <a:schemeClr val="tx1"/>
              </a:solidFill>
            </a:endParaRPr>
          </a:p>
          <a:p>
            <a:pPr fontAlgn="t">
              <a:lnSpc>
                <a:spcPct val="200000"/>
              </a:lnSpc>
            </a:pPr>
            <a:r>
              <a:rPr lang="en-IN" b="1" dirty="0"/>
              <a:t>Industrial Training Certificate</a:t>
            </a:r>
            <a:endParaRPr lang="en-US" dirty="0"/>
          </a:p>
          <a:p>
            <a:pPr fontAlgn="t">
              <a:lnSpc>
                <a:spcPct val="200000"/>
              </a:lnSpc>
            </a:pPr>
            <a:r>
              <a:rPr lang="en-IN" b="1" dirty="0"/>
              <a:t>Importance of Industrial Training</a:t>
            </a:r>
            <a:endParaRPr lang="en-US" dirty="0"/>
          </a:p>
          <a:p>
            <a:pPr fontAlgn="t">
              <a:lnSpc>
                <a:spcPct val="200000"/>
              </a:lnSpc>
            </a:pPr>
            <a:r>
              <a:rPr lang="en-IN" b="1" dirty="0"/>
              <a:t>Modules Learned</a:t>
            </a:r>
            <a:endParaRPr lang="en-US" dirty="0"/>
          </a:p>
          <a:p>
            <a:pPr fontAlgn="t">
              <a:lnSpc>
                <a:spcPct val="200000"/>
              </a:lnSpc>
            </a:pPr>
            <a:r>
              <a:rPr lang="en-IN" b="1" dirty="0"/>
              <a:t>Technical Knowledge Gained</a:t>
            </a:r>
            <a:endParaRPr lang="en-US" dirty="0"/>
          </a:p>
          <a:p>
            <a:pPr fontAlgn="t">
              <a:lnSpc>
                <a:spcPct val="200000"/>
              </a:lnSpc>
            </a:pPr>
            <a:r>
              <a:rPr lang="en-IN" b="1" dirty="0" smtClean="0"/>
              <a:t>Used  </a:t>
            </a:r>
            <a:r>
              <a:rPr lang="en-IN" b="1" dirty="0"/>
              <a:t>Modern Tools</a:t>
            </a:r>
            <a:endParaRPr lang="en-US" dirty="0"/>
          </a:p>
          <a:p>
            <a:endParaRPr lang="en-US" dirty="0"/>
          </a:p>
        </p:txBody>
      </p:sp>
      <p:sp>
        <p:nvSpPr>
          <p:cNvPr id="2" name="Title 1"/>
          <p:cNvSpPr>
            <a:spLocks noGrp="1"/>
          </p:cNvSpPr>
          <p:nvPr>
            <p:ph type="title"/>
          </p:nvPr>
        </p:nvSpPr>
        <p:spPr>
          <a:xfrm>
            <a:off x="457200" y="457200"/>
            <a:ext cx="8381260" cy="1054394"/>
          </a:xfrm>
        </p:spPr>
        <p:txBody>
          <a:bodyPr/>
          <a:lstStyle/>
          <a:p>
            <a:r>
              <a:rPr lang="en-US" b="1" dirty="0">
                <a:solidFill>
                  <a:srgbClr val="FFFFFF"/>
                </a:solidFill>
              </a:rPr>
              <a:t>AGENDA</a:t>
            </a:r>
            <a:br>
              <a:rPr lang="en-US" b="1" dirty="0">
                <a:solidFill>
                  <a:srgbClr val="FFFFFF"/>
                </a:solidFill>
              </a:rPr>
            </a:br>
            <a:endParaRPr lang="en-US" dirty="0"/>
          </a:p>
        </p:txBody>
      </p:sp>
    </p:spTree>
    <p:extLst>
      <p:ext uri="{BB962C8B-B14F-4D97-AF65-F5344CB8AC3E}">
        <p14:creationId xmlns:p14="http://schemas.microsoft.com/office/powerpoint/2010/main" val="28255273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0999" y="1719070"/>
            <a:ext cx="8407893" cy="4757929"/>
          </a:xfrm>
        </p:spPr>
        <p:txBody>
          <a:bodyPr>
            <a:normAutofit/>
          </a:bodyPr>
          <a:lstStyle/>
          <a:p>
            <a:pPr marL="0" indent="0">
              <a:buNone/>
            </a:pPr>
            <a:r>
              <a:rPr lang="en-IN" dirty="0"/>
              <a:t>	Previously, After the product planning phase, we move to the product development phase and then the testing phase and then the product building phase. No effort is done in parallel. So, the software release life cycle is also very </a:t>
            </a:r>
            <a:r>
              <a:rPr lang="en-IN" dirty="0" err="1"/>
              <a:t>very</a:t>
            </a:r>
            <a:r>
              <a:rPr lang="en-IN" dirty="0"/>
              <a:t> long. After automation Concepts we had been using different scripting languages to automate manual processes. But these all language are imperative in nature hence we can’t rely on these language because these languages reduce the performance of target system. But now days we have configuration tools like </a:t>
            </a:r>
            <a:r>
              <a:rPr lang="en-IN" dirty="0" err="1"/>
              <a:t>puppet,ansible</a:t>
            </a:r>
            <a:r>
              <a:rPr lang="en-IN" dirty="0"/>
              <a:t> etc. These tools are declarative in nature. The </a:t>
            </a:r>
            <a:r>
              <a:rPr lang="en-IN" dirty="0" err="1"/>
              <a:t>ansible</a:t>
            </a:r>
            <a:r>
              <a:rPr lang="en-IN" dirty="0"/>
              <a:t> is most used tool in all other configuration tool because it more powerful and has many more features</a:t>
            </a:r>
          </a:p>
          <a:p>
            <a:endParaRPr lang="en-US" dirty="0"/>
          </a:p>
        </p:txBody>
      </p:sp>
      <p:sp>
        <p:nvSpPr>
          <p:cNvPr id="2" name="Title 1"/>
          <p:cNvSpPr>
            <a:spLocks noGrp="1"/>
          </p:cNvSpPr>
          <p:nvPr>
            <p:ph type="title"/>
          </p:nvPr>
        </p:nvSpPr>
        <p:spPr>
          <a:xfrm>
            <a:off x="381000" y="457200"/>
            <a:ext cx="8381260" cy="1054394"/>
          </a:xfrm>
        </p:spPr>
        <p:txBody>
          <a:bodyPr/>
          <a:lstStyle/>
          <a:p>
            <a:r>
              <a:rPr lang="en-IN" b="1" dirty="0"/>
              <a:t>INTRODUCTION</a:t>
            </a:r>
            <a:r>
              <a:rPr lang="en-US" b="1" dirty="0"/>
              <a:t/>
            </a:r>
            <a:br>
              <a:rPr lang="en-US" b="1" dirty="0"/>
            </a:br>
            <a:endParaRPr lang="en-US" dirty="0"/>
          </a:p>
        </p:txBody>
      </p:sp>
    </p:spTree>
    <p:extLst>
      <p:ext uri="{BB962C8B-B14F-4D97-AF65-F5344CB8AC3E}">
        <p14:creationId xmlns:p14="http://schemas.microsoft.com/office/powerpoint/2010/main" val="12772038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1000" y="1719262"/>
            <a:ext cx="8382000" cy="4605337"/>
          </a:xfrm>
        </p:spPr>
      </p:pic>
      <p:sp>
        <p:nvSpPr>
          <p:cNvPr id="2" name="Title 1"/>
          <p:cNvSpPr>
            <a:spLocks noGrp="1"/>
          </p:cNvSpPr>
          <p:nvPr>
            <p:ph type="title"/>
          </p:nvPr>
        </p:nvSpPr>
        <p:spPr>
          <a:xfrm>
            <a:off x="381000" y="609600"/>
            <a:ext cx="8381260" cy="1054394"/>
          </a:xfrm>
        </p:spPr>
        <p:txBody>
          <a:bodyPr/>
          <a:lstStyle/>
          <a:p>
            <a:r>
              <a:rPr lang="en-US" b="1" dirty="0"/>
              <a:t>Industrial Training Certificate</a:t>
            </a:r>
            <a:br>
              <a:rPr lang="en-US" b="1" dirty="0"/>
            </a:br>
            <a:r>
              <a:rPr lang="en-IN" b="1" dirty="0"/>
              <a:t/>
            </a:r>
            <a:br>
              <a:rPr lang="en-IN" b="1" dirty="0"/>
            </a:br>
            <a:endParaRPr lang="en-US" dirty="0"/>
          </a:p>
        </p:txBody>
      </p:sp>
    </p:spTree>
    <p:extLst>
      <p:ext uri="{BB962C8B-B14F-4D97-AF65-F5344CB8AC3E}">
        <p14:creationId xmlns:p14="http://schemas.microsoft.com/office/powerpoint/2010/main" val="119349814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marL="63500" marR="521970" indent="0">
              <a:lnSpc>
                <a:spcPct val="150000"/>
              </a:lnSpc>
              <a:spcBef>
                <a:spcPts val="785"/>
              </a:spcBef>
              <a:buNone/>
            </a:pPr>
            <a:r>
              <a:rPr lang="en-US" spc="-5" dirty="0">
                <a:solidFill>
                  <a:srgbClr val="292929"/>
                </a:solidFill>
                <a:ea typeface="Georgia" panose="02040502050405020303" pitchFamily="18" charset="0"/>
                <a:cs typeface="+mn-lt"/>
              </a:rPr>
              <a:t>After automation Concepts we had been using different scripting languages to automate manual processes. But these all language are imperative in nature hence we can’t rely on these language because these languages reduce the performance of target system. But now days we have configuration tools like </a:t>
            </a:r>
            <a:r>
              <a:rPr lang="en-US" spc="-5" dirty="0" err="1">
                <a:solidFill>
                  <a:srgbClr val="292929"/>
                </a:solidFill>
                <a:ea typeface="Georgia" panose="02040502050405020303" pitchFamily="18" charset="0"/>
                <a:cs typeface="+mn-lt"/>
              </a:rPr>
              <a:t>puppet,ansible</a:t>
            </a:r>
            <a:r>
              <a:rPr lang="en-US" spc="-5" dirty="0">
                <a:solidFill>
                  <a:srgbClr val="292929"/>
                </a:solidFill>
                <a:ea typeface="Georgia" panose="02040502050405020303" pitchFamily="18" charset="0"/>
                <a:cs typeface="+mn-lt"/>
              </a:rPr>
              <a:t> etc. These tools </a:t>
            </a:r>
            <a:r>
              <a:rPr lang="en-US" spc="-5" dirty="0" err="1">
                <a:solidFill>
                  <a:srgbClr val="292929"/>
                </a:solidFill>
                <a:ea typeface="Georgia" panose="02040502050405020303" pitchFamily="18" charset="0"/>
                <a:cs typeface="+mn-lt"/>
              </a:rPr>
              <a:t>aredeclarative</a:t>
            </a:r>
            <a:r>
              <a:rPr lang="en-US" spc="-5" dirty="0">
                <a:solidFill>
                  <a:srgbClr val="292929"/>
                </a:solidFill>
                <a:ea typeface="Georgia" panose="02040502050405020303" pitchFamily="18" charset="0"/>
                <a:cs typeface="+mn-lt"/>
              </a:rPr>
              <a:t> in nature. The </a:t>
            </a:r>
            <a:r>
              <a:rPr lang="en-US" spc="-5" dirty="0" err="1">
                <a:solidFill>
                  <a:srgbClr val="292929"/>
                </a:solidFill>
                <a:ea typeface="Georgia" panose="02040502050405020303" pitchFamily="18" charset="0"/>
                <a:cs typeface="+mn-lt"/>
              </a:rPr>
              <a:t>ansible</a:t>
            </a:r>
            <a:r>
              <a:rPr lang="en-US" spc="-5" dirty="0">
                <a:solidFill>
                  <a:srgbClr val="292929"/>
                </a:solidFill>
                <a:ea typeface="Georgia" panose="02040502050405020303" pitchFamily="18" charset="0"/>
                <a:cs typeface="+mn-lt"/>
              </a:rPr>
              <a:t> is most used tool in all other configuration tool because it more powerful and has many more features.</a:t>
            </a:r>
          </a:p>
          <a:p>
            <a:pPr marL="63500" marR="521970" indent="0">
              <a:lnSpc>
                <a:spcPct val="150000"/>
              </a:lnSpc>
              <a:spcBef>
                <a:spcPts val="785"/>
              </a:spcBef>
              <a:buNone/>
            </a:pPr>
            <a:r>
              <a:rPr lang="en-US" spc="-5" dirty="0">
                <a:solidFill>
                  <a:srgbClr val="292929"/>
                </a:solidFill>
                <a:ea typeface="Georgia" panose="02040502050405020303" pitchFamily="18" charset="0"/>
                <a:cs typeface="+mn-lt"/>
              </a:rPr>
              <a:t> Importance of the training/projects: Helps to remove manual processes hence it will increase speed of SDLC. It won’t affect performance of target system. This project also helps to solved real world problems. Proposed project helps to improve </a:t>
            </a:r>
            <a:r>
              <a:rPr lang="en-US" spc="-5" dirty="0" err="1">
                <a:solidFill>
                  <a:srgbClr val="292929"/>
                </a:solidFill>
                <a:ea typeface="Georgia" panose="02040502050405020303" pitchFamily="18" charset="0"/>
                <a:cs typeface="+mn-lt"/>
              </a:rPr>
              <a:t>Availability,Scalability</a:t>
            </a:r>
            <a:r>
              <a:rPr lang="en-US" spc="-5" dirty="0">
                <a:solidFill>
                  <a:srgbClr val="292929"/>
                </a:solidFill>
                <a:ea typeface="Georgia" panose="02040502050405020303" pitchFamily="18" charset="0"/>
                <a:cs typeface="+mn-lt"/>
              </a:rPr>
              <a:t>.</a:t>
            </a:r>
          </a:p>
          <a:p>
            <a:endParaRPr lang="en-US" dirty="0"/>
          </a:p>
        </p:txBody>
      </p:sp>
      <p:sp>
        <p:nvSpPr>
          <p:cNvPr id="2" name="Title 1"/>
          <p:cNvSpPr>
            <a:spLocks noGrp="1"/>
          </p:cNvSpPr>
          <p:nvPr>
            <p:ph type="title"/>
          </p:nvPr>
        </p:nvSpPr>
        <p:spPr>
          <a:xfrm>
            <a:off x="381000" y="533400"/>
            <a:ext cx="8381260" cy="1054394"/>
          </a:xfrm>
        </p:spPr>
        <p:txBody>
          <a:bodyPr/>
          <a:lstStyle/>
          <a:p>
            <a:r>
              <a:rPr lang="en-IN" b="1" dirty="0">
                <a:sym typeface="+mn-ea"/>
              </a:rPr>
              <a:t>Importance of Industrial Training</a:t>
            </a:r>
            <a:br>
              <a:rPr lang="en-IN" b="1" dirty="0">
                <a:sym typeface="+mn-ea"/>
              </a:rPr>
            </a:br>
            <a:endParaRPr lang="en-US" dirty="0"/>
          </a:p>
        </p:txBody>
      </p:sp>
    </p:spTree>
    <p:extLst>
      <p:ext uri="{BB962C8B-B14F-4D97-AF65-F5344CB8AC3E}">
        <p14:creationId xmlns:p14="http://schemas.microsoft.com/office/powerpoint/2010/main" val="30789872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719070"/>
            <a:ext cx="8686799" cy="5215130"/>
          </a:xfrm>
        </p:spPr>
        <p:txBody>
          <a:bodyPr>
            <a:normAutofit fontScale="85000" lnSpcReduction="10000"/>
          </a:bodyPr>
          <a:lstStyle/>
          <a:p>
            <a:pPr marL="349250" marR="521970" indent="-285750">
              <a:lnSpc>
                <a:spcPct val="150000"/>
              </a:lnSpc>
              <a:spcBef>
                <a:spcPts val="785"/>
              </a:spcBef>
              <a:buFont typeface="Wingdings" panose="05000000000000000000" charset="0"/>
              <a:buChar char="ü"/>
            </a:pPr>
            <a:r>
              <a:rPr lang="en-IN" spc="-5" dirty="0">
                <a:solidFill>
                  <a:srgbClr val="292929"/>
                </a:solidFill>
                <a:ea typeface="Georgia" panose="02040502050405020303" pitchFamily="18" charset="0"/>
                <a:cs typeface="+mn-lt"/>
              </a:rPr>
              <a:t>In this industrial training i have learned different modules/features of </a:t>
            </a:r>
            <a:r>
              <a:rPr lang="en-IN" spc="-5" dirty="0" err="1">
                <a:solidFill>
                  <a:srgbClr val="292929"/>
                </a:solidFill>
                <a:ea typeface="Georgia" panose="02040502050405020303" pitchFamily="18" charset="0"/>
                <a:cs typeface="+mn-lt"/>
              </a:rPr>
              <a:t>ansible</a:t>
            </a:r>
            <a:r>
              <a:rPr lang="en-IN" spc="-5" dirty="0">
                <a:solidFill>
                  <a:srgbClr val="292929"/>
                </a:solidFill>
                <a:ea typeface="Georgia" panose="02040502050405020303" pitchFamily="18" charset="0"/>
                <a:cs typeface="+mn-lt"/>
              </a:rPr>
              <a:t> like </a:t>
            </a:r>
          </a:p>
          <a:p>
            <a:pPr marL="349250" marR="521970" indent="-285750">
              <a:lnSpc>
                <a:spcPct val="150000"/>
              </a:lnSpc>
              <a:spcBef>
                <a:spcPts val="785"/>
              </a:spcBef>
              <a:buFont typeface="Wingdings" panose="05000000000000000000" charset="0"/>
              <a:buChar char="ü"/>
            </a:pPr>
            <a:r>
              <a:rPr lang="en-IN" b="1" spc="-5" dirty="0">
                <a:solidFill>
                  <a:srgbClr val="292929"/>
                </a:solidFill>
                <a:ea typeface="Georgia" panose="02040502050405020303" pitchFamily="18" charset="0"/>
                <a:cs typeface="+mn-lt"/>
              </a:rPr>
              <a:t>Configuration Management</a:t>
            </a:r>
            <a:r>
              <a:rPr lang="en-IN" spc="-5" dirty="0">
                <a:solidFill>
                  <a:srgbClr val="292929"/>
                </a:solidFill>
                <a:ea typeface="Georgia" panose="02040502050405020303" pitchFamily="18" charset="0"/>
                <a:cs typeface="+mn-lt"/>
              </a:rPr>
              <a:t>:  Centralizing configuration file management and deployment is a common use case for </a:t>
            </a:r>
            <a:r>
              <a:rPr lang="en-IN" spc="-5" dirty="0" err="1">
                <a:solidFill>
                  <a:srgbClr val="292929"/>
                </a:solidFill>
                <a:ea typeface="Georgia" panose="02040502050405020303" pitchFamily="18" charset="0"/>
                <a:cs typeface="+mn-lt"/>
              </a:rPr>
              <a:t>Ansible</a:t>
            </a:r>
            <a:r>
              <a:rPr lang="en-IN" spc="-5" dirty="0">
                <a:solidFill>
                  <a:srgbClr val="292929"/>
                </a:solidFill>
                <a:ea typeface="Georgia" panose="02040502050405020303" pitchFamily="18" charset="0"/>
                <a:cs typeface="+mn-lt"/>
              </a:rPr>
              <a:t>, and it is how many power users are first introduced to the </a:t>
            </a:r>
            <a:r>
              <a:rPr lang="en-IN" spc="-5" dirty="0" err="1">
                <a:solidFill>
                  <a:srgbClr val="292929"/>
                </a:solidFill>
                <a:ea typeface="Georgia" panose="02040502050405020303" pitchFamily="18" charset="0"/>
                <a:cs typeface="+mn-lt"/>
              </a:rPr>
              <a:t>Ansible</a:t>
            </a:r>
            <a:r>
              <a:rPr lang="en-IN" spc="-5" dirty="0">
                <a:solidFill>
                  <a:srgbClr val="292929"/>
                </a:solidFill>
                <a:ea typeface="Georgia" panose="02040502050405020303" pitchFamily="18" charset="0"/>
                <a:cs typeface="+mn-lt"/>
              </a:rPr>
              <a:t> automation platform.</a:t>
            </a:r>
          </a:p>
          <a:p>
            <a:pPr marL="349250" marR="521970" indent="-285750">
              <a:lnSpc>
                <a:spcPct val="150000"/>
              </a:lnSpc>
              <a:spcBef>
                <a:spcPts val="785"/>
              </a:spcBef>
              <a:buFont typeface="Wingdings" panose="05000000000000000000" charset="0"/>
              <a:buChar char="ü"/>
            </a:pPr>
            <a:r>
              <a:rPr lang="en-IN" b="1" spc="-5" dirty="0">
                <a:solidFill>
                  <a:srgbClr val="292929"/>
                </a:solidFill>
                <a:ea typeface="Georgia" panose="02040502050405020303" pitchFamily="18" charset="0"/>
                <a:cs typeface="+mn-lt"/>
              </a:rPr>
              <a:t>Application Deployment</a:t>
            </a:r>
            <a:r>
              <a:rPr lang="en-IN" spc="-5" dirty="0">
                <a:solidFill>
                  <a:srgbClr val="292929"/>
                </a:solidFill>
                <a:ea typeface="Georgia" panose="02040502050405020303" pitchFamily="18" charset="0"/>
                <a:cs typeface="+mn-lt"/>
              </a:rPr>
              <a:t>: When you define your application with </a:t>
            </a:r>
            <a:r>
              <a:rPr lang="en-IN" spc="-5" dirty="0" err="1">
                <a:solidFill>
                  <a:srgbClr val="292929"/>
                </a:solidFill>
                <a:ea typeface="Georgia" panose="02040502050405020303" pitchFamily="18" charset="0"/>
                <a:cs typeface="+mn-lt"/>
              </a:rPr>
              <a:t>Ansible</a:t>
            </a:r>
            <a:r>
              <a:rPr lang="en-IN" spc="-5" dirty="0">
                <a:solidFill>
                  <a:srgbClr val="292929"/>
                </a:solidFill>
                <a:ea typeface="Georgia" panose="02040502050405020303" pitchFamily="18" charset="0"/>
                <a:cs typeface="+mn-lt"/>
              </a:rPr>
              <a:t>, and manage the deployment with Red Hat </a:t>
            </a:r>
            <a:r>
              <a:rPr lang="en-IN" spc="-5" dirty="0" err="1">
                <a:solidFill>
                  <a:srgbClr val="292929"/>
                </a:solidFill>
                <a:ea typeface="Georgia" panose="02040502050405020303" pitchFamily="18" charset="0"/>
                <a:cs typeface="+mn-lt"/>
              </a:rPr>
              <a:t>Ansible</a:t>
            </a:r>
            <a:r>
              <a:rPr lang="en-IN" spc="-5" dirty="0">
                <a:solidFill>
                  <a:srgbClr val="292929"/>
                </a:solidFill>
                <a:ea typeface="Georgia" panose="02040502050405020303" pitchFamily="18" charset="0"/>
                <a:cs typeface="+mn-lt"/>
              </a:rPr>
              <a:t> Tower, teams can effectively manage the entire application life cycle from development to production.</a:t>
            </a:r>
          </a:p>
          <a:p>
            <a:pPr marL="349250" marR="521970" indent="-285750">
              <a:lnSpc>
                <a:spcPct val="150000"/>
              </a:lnSpc>
              <a:spcBef>
                <a:spcPts val="785"/>
              </a:spcBef>
              <a:buFont typeface="Wingdings" panose="05000000000000000000" charset="0"/>
              <a:buChar char="ü"/>
            </a:pPr>
            <a:r>
              <a:rPr lang="en-IN" b="1" spc="-5" dirty="0">
                <a:solidFill>
                  <a:srgbClr val="292929"/>
                </a:solidFill>
                <a:ea typeface="Georgia" panose="02040502050405020303" pitchFamily="18" charset="0"/>
                <a:cs typeface="+mn-lt"/>
              </a:rPr>
              <a:t>Security and Compliance</a:t>
            </a:r>
            <a:r>
              <a:rPr lang="en-IN" spc="-5" dirty="0">
                <a:solidFill>
                  <a:srgbClr val="292929"/>
                </a:solidFill>
                <a:ea typeface="Georgia" panose="02040502050405020303" pitchFamily="18" charset="0"/>
                <a:cs typeface="+mn-lt"/>
              </a:rPr>
              <a:t>:  When your security policy is defined in </a:t>
            </a:r>
            <a:r>
              <a:rPr lang="en-IN" spc="-5" dirty="0" err="1">
                <a:solidFill>
                  <a:srgbClr val="292929"/>
                </a:solidFill>
                <a:ea typeface="Georgia" panose="02040502050405020303" pitchFamily="18" charset="0"/>
                <a:cs typeface="+mn-lt"/>
              </a:rPr>
              <a:t>Ansible</a:t>
            </a:r>
            <a:r>
              <a:rPr lang="en-IN" spc="-5" dirty="0">
                <a:solidFill>
                  <a:srgbClr val="292929"/>
                </a:solidFill>
                <a:ea typeface="Georgia" panose="02040502050405020303" pitchFamily="18" charset="0"/>
                <a:cs typeface="+mn-lt"/>
              </a:rPr>
              <a:t> Playbooks, scanning and remediation of </a:t>
            </a:r>
            <a:r>
              <a:rPr lang="en-IN" spc="-5" dirty="0" err="1">
                <a:solidFill>
                  <a:srgbClr val="292929"/>
                </a:solidFill>
                <a:ea typeface="Georgia" panose="02040502050405020303" pitchFamily="18" charset="0"/>
                <a:cs typeface="+mn-lt"/>
              </a:rPr>
              <a:t>sitewide</a:t>
            </a:r>
            <a:r>
              <a:rPr lang="en-IN" spc="-5" dirty="0">
                <a:solidFill>
                  <a:srgbClr val="292929"/>
                </a:solidFill>
                <a:ea typeface="Georgia" panose="02040502050405020303" pitchFamily="18" charset="0"/>
                <a:cs typeface="+mn-lt"/>
              </a:rPr>
              <a:t> security policies can be integrated into other automated processes. Instead of being an afterthought, it</a:t>
            </a:r>
            <a:endParaRPr lang="en-US" dirty="0"/>
          </a:p>
        </p:txBody>
      </p:sp>
      <p:sp>
        <p:nvSpPr>
          <p:cNvPr id="2" name="Title 1"/>
          <p:cNvSpPr>
            <a:spLocks noGrp="1"/>
          </p:cNvSpPr>
          <p:nvPr>
            <p:ph type="title"/>
          </p:nvPr>
        </p:nvSpPr>
        <p:spPr>
          <a:xfrm>
            <a:off x="381000" y="533400"/>
            <a:ext cx="8381260" cy="1054394"/>
          </a:xfrm>
        </p:spPr>
        <p:txBody>
          <a:bodyPr/>
          <a:lstStyle/>
          <a:p>
            <a:r>
              <a:rPr lang="en-IN" b="1" dirty="0">
                <a:sym typeface="+mn-ea"/>
              </a:rPr>
              <a:t>Modules Learned</a:t>
            </a:r>
            <a:br>
              <a:rPr lang="en-IN" b="1" dirty="0">
                <a:sym typeface="+mn-ea"/>
              </a:rPr>
            </a:br>
            <a:endParaRPr lang="en-US" dirty="0"/>
          </a:p>
        </p:txBody>
      </p:sp>
    </p:spTree>
    <p:extLst>
      <p:ext uri="{BB962C8B-B14F-4D97-AF65-F5344CB8AC3E}">
        <p14:creationId xmlns:p14="http://schemas.microsoft.com/office/powerpoint/2010/main" val="13112904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0999" y="1719070"/>
            <a:ext cx="8407893" cy="4986529"/>
          </a:xfrm>
        </p:spPr>
        <p:txBody>
          <a:bodyPr>
            <a:normAutofit fontScale="85000" lnSpcReduction="10000"/>
          </a:bodyPr>
          <a:lstStyle/>
          <a:p>
            <a:pPr marL="349250" marR="521970" indent="-285750">
              <a:lnSpc>
                <a:spcPct val="150000"/>
              </a:lnSpc>
              <a:spcBef>
                <a:spcPts val="785"/>
              </a:spcBef>
              <a:buFont typeface="Wingdings" panose="05000000000000000000" charset="0"/>
              <a:buChar char="ü"/>
            </a:pPr>
            <a:r>
              <a:rPr lang="en-IN" b="1" spc="-5" dirty="0">
                <a:solidFill>
                  <a:srgbClr val="292929"/>
                </a:solidFill>
                <a:ea typeface="Georgia" panose="02040502050405020303" pitchFamily="18" charset="0"/>
                <a:cs typeface="+mn-lt"/>
              </a:rPr>
              <a:t>Orchestration:  </a:t>
            </a:r>
            <a:r>
              <a:rPr lang="en-IN" spc="-5" dirty="0">
                <a:solidFill>
                  <a:srgbClr val="292929"/>
                </a:solidFill>
                <a:ea typeface="Georgia" panose="02040502050405020303" pitchFamily="18" charset="0"/>
                <a:cs typeface="+mn-lt"/>
              </a:rPr>
              <a:t>Configurations alone do not define your environment. You need to define how multiple configurations interact, and ensure the disparate pieces can be managed as a whole.</a:t>
            </a:r>
          </a:p>
          <a:p>
            <a:pPr marL="349250" marR="521970" indent="-285750">
              <a:lnSpc>
                <a:spcPct val="150000"/>
              </a:lnSpc>
              <a:spcBef>
                <a:spcPts val="785"/>
              </a:spcBef>
              <a:buFont typeface="Wingdings" panose="05000000000000000000" charset="0"/>
              <a:buChar char="ü"/>
            </a:pPr>
            <a:r>
              <a:rPr lang="en-IN" b="1" spc="-5" dirty="0">
                <a:solidFill>
                  <a:srgbClr val="292929"/>
                </a:solidFill>
                <a:ea typeface="Georgia" panose="02040502050405020303" pitchFamily="18" charset="0"/>
                <a:cs typeface="+mn-lt"/>
              </a:rPr>
              <a:t>Continuous Delivery: </a:t>
            </a:r>
            <a:r>
              <a:rPr lang="en-IN" spc="-5" dirty="0">
                <a:solidFill>
                  <a:srgbClr val="292929"/>
                </a:solidFill>
                <a:ea typeface="Georgia" panose="02040502050405020303" pitchFamily="18" charset="0"/>
                <a:cs typeface="+mn-lt"/>
              </a:rPr>
              <a:t>Creating a CI/CD pipeline requires coordination and buy-in from numerous teams. You cannot do it without a simple automation platform that everyone in your organization can use. </a:t>
            </a:r>
            <a:r>
              <a:rPr lang="en-IN" spc="-5" dirty="0" err="1">
                <a:solidFill>
                  <a:srgbClr val="292929"/>
                </a:solidFill>
                <a:ea typeface="Georgia" panose="02040502050405020303" pitchFamily="18" charset="0"/>
                <a:cs typeface="+mn-lt"/>
              </a:rPr>
              <a:t>Ansible</a:t>
            </a:r>
            <a:r>
              <a:rPr lang="en-IN" spc="-5" dirty="0">
                <a:solidFill>
                  <a:srgbClr val="292929"/>
                </a:solidFill>
                <a:ea typeface="Georgia" panose="02040502050405020303" pitchFamily="18" charset="0"/>
                <a:cs typeface="+mn-lt"/>
              </a:rPr>
              <a:t> Playbooks keep your applications properly deployed (and managed) throughout their entire life cycle.   </a:t>
            </a:r>
          </a:p>
          <a:p>
            <a:pPr marL="349250" marR="521970" indent="-285750">
              <a:lnSpc>
                <a:spcPct val="150000"/>
              </a:lnSpc>
              <a:spcBef>
                <a:spcPts val="785"/>
              </a:spcBef>
              <a:buFont typeface="Wingdings" panose="05000000000000000000" charset="0"/>
              <a:buChar char="ü"/>
            </a:pPr>
            <a:r>
              <a:rPr lang="en-IN" b="1" spc="-5" dirty="0">
                <a:solidFill>
                  <a:srgbClr val="292929"/>
                </a:solidFill>
                <a:ea typeface="Georgia" panose="02040502050405020303" pitchFamily="18" charset="0"/>
                <a:cs typeface="+mn-lt"/>
              </a:rPr>
              <a:t>Provisioning: </a:t>
            </a:r>
            <a:r>
              <a:rPr lang="en-IN" spc="-5" dirty="0">
                <a:solidFill>
                  <a:srgbClr val="292929"/>
                </a:solidFill>
                <a:ea typeface="Georgia" panose="02040502050405020303" pitchFamily="18" charset="0"/>
                <a:cs typeface="+mn-lt"/>
              </a:rPr>
              <a:t>Applications have to be deployed or installed on systems. </a:t>
            </a:r>
            <a:r>
              <a:rPr lang="en-IN" spc="-5" dirty="0" err="1">
                <a:solidFill>
                  <a:srgbClr val="292929"/>
                </a:solidFill>
                <a:ea typeface="Georgia" panose="02040502050405020303" pitchFamily="18" charset="0"/>
                <a:cs typeface="+mn-lt"/>
              </a:rPr>
              <a:t>Ansible</a:t>
            </a:r>
            <a:r>
              <a:rPr lang="en-IN" spc="-5" dirty="0">
                <a:solidFill>
                  <a:srgbClr val="292929"/>
                </a:solidFill>
                <a:ea typeface="Georgia" panose="02040502050405020303" pitchFamily="18" charset="0"/>
                <a:cs typeface="+mn-lt"/>
              </a:rPr>
              <a:t> and Red Hat </a:t>
            </a:r>
            <a:r>
              <a:rPr lang="en-IN" spc="-5" dirty="0" err="1">
                <a:solidFill>
                  <a:srgbClr val="292929"/>
                </a:solidFill>
                <a:ea typeface="Georgia" panose="02040502050405020303" pitchFamily="18" charset="0"/>
                <a:cs typeface="+mn-lt"/>
              </a:rPr>
              <a:t>Ansible</a:t>
            </a:r>
            <a:r>
              <a:rPr lang="en-IN" spc="-5" dirty="0">
                <a:solidFill>
                  <a:srgbClr val="292929"/>
                </a:solidFill>
                <a:ea typeface="Georgia" panose="02040502050405020303" pitchFamily="18" charset="0"/>
                <a:cs typeface="+mn-lt"/>
              </a:rPr>
              <a:t> Tower can help streamline the process of provisioning systems, whether you are PXE booting and </a:t>
            </a:r>
            <a:r>
              <a:rPr lang="en-IN" spc="-5" dirty="0" err="1">
                <a:solidFill>
                  <a:srgbClr val="292929"/>
                </a:solidFill>
                <a:ea typeface="Georgia" panose="02040502050405020303" pitchFamily="18" charset="0"/>
                <a:cs typeface="+mn-lt"/>
              </a:rPr>
              <a:t>kickstarting</a:t>
            </a:r>
            <a:r>
              <a:rPr lang="en-IN" spc="-5" dirty="0">
                <a:solidFill>
                  <a:srgbClr val="292929"/>
                </a:solidFill>
                <a:ea typeface="Georgia" panose="02040502050405020303" pitchFamily="18" charset="0"/>
                <a:cs typeface="+mn-lt"/>
              </a:rPr>
              <a:t> bare-metal servers or virtual machines, or creating virtual machines or cloud instances from templates. Applications have to be deployed or installed on systems</a:t>
            </a:r>
            <a:endParaRPr lang="en-US" dirty="0"/>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35449247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marL="63500" marR="521970" indent="0">
              <a:lnSpc>
                <a:spcPct val="150000"/>
              </a:lnSpc>
              <a:spcBef>
                <a:spcPts val="785"/>
              </a:spcBef>
              <a:buNone/>
            </a:pPr>
            <a:r>
              <a:rPr lang="en-US" spc="-5" dirty="0">
                <a:solidFill>
                  <a:srgbClr val="292929"/>
                </a:solidFill>
                <a:ea typeface="Georgia" panose="02040502050405020303" pitchFamily="18" charset="0"/>
                <a:cs typeface="+mn-lt"/>
                <a:sym typeface="+mn-ea"/>
              </a:rPr>
              <a:t>When I was analyzing the task then I found out </a:t>
            </a:r>
            <a:r>
              <a:rPr lang="en-US" spc="-5" dirty="0" err="1">
                <a:solidFill>
                  <a:srgbClr val="292929"/>
                </a:solidFill>
                <a:ea typeface="Georgia" panose="02040502050405020303" pitchFamily="18" charset="0"/>
                <a:cs typeface="+mn-lt"/>
                <a:sym typeface="+mn-ea"/>
              </a:rPr>
              <a:t>that,I</a:t>
            </a:r>
            <a:r>
              <a:rPr lang="en-US" spc="-5" dirty="0">
                <a:solidFill>
                  <a:srgbClr val="292929"/>
                </a:solidFill>
                <a:ea typeface="Georgia" panose="02040502050405020303" pitchFamily="18" charset="0"/>
                <a:cs typeface="+mn-lt"/>
                <a:sym typeface="+mn-ea"/>
              </a:rPr>
              <a:t> need to learn some other technologies to complete it. In this way I have learned different tools of </a:t>
            </a:r>
            <a:r>
              <a:rPr lang="en-US" spc="-5" dirty="0" err="1">
                <a:solidFill>
                  <a:srgbClr val="292929"/>
                </a:solidFill>
                <a:ea typeface="Georgia" panose="02040502050405020303" pitchFamily="18" charset="0"/>
                <a:cs typeface="+mn-lt"/>
                <a:sym typeface="+mn-ea"/>
              </a:rPr>
              <a:t>DevOps</a:t>
            </a:r>
            <a:r>
              <a:rPr lang="en-US" spc="-5" dirty="0">
                <a:solidFill>
                  <a:srgbClr val="292929"/>
                </a:solidFill>
                <a:ea typeface="Georgia" panose="02040502050405020303" pitchFamily="18" charset="0"/>
                <a:cs typeface="+mn-lt"/>
                <a:sym typeface="+mn-ea"/>
              </a:rPr>
              <a:t> and worked on different Technologies which includes </a:t>
            </a:r>
            <a:r>
              <a:rPr lang="en-US" spc="-5" dirty="0" err="1">
                <a:solidFill>
                  <a:srgbClr val="292929"/>
                </a:solidFill>
                <a:ea typeface="Georgia" panose="02040502050405020303" pitchFamily="18" charset="0"/>
                <a:cs typeface="+mn-lt"/>
                <a:sym typeface="+mn-ea"/>
              </a:rPr>
              <a:t>AWS,Docker,Linux</a:t>
            </a:r>
            <a:r>
              <a:rPr lang="en-US" spc="-5" dirty="0">
                <a:solidFill>
                  <a:srgbClr val="292929"/>
                </a:solidFill>
                <a:ea typeface="Georgia" panose="02040502050405020303" pitchFamily="18" charset="0"/>
                <a:cs typeface="+mn-lt"/>
                <a:sym typeface="+mn-ea"/>
              </a:rPr>
              <a:t> etc. Additionally, I developed my own projects by integrating these tools. </a:t>
            </a:r>
            <a:endParaRPr lang="en-US" spc="-5" dirty="0">
              <a:solidFill>
                <a:srgbClr val="292929"/>
              </a:solidFill>
              <a:ea typeface="Georgia" panose="02040502050405020303" pitchFamily="18" charset="0"/>
              <a:cs typeface="+mn-lt"/>
            </a:endParaRPr>
          </a:p>
          <a:p>
            <a:pPr marL="63500" marR="521970" indent="0">
              <a:lnSpc>
                <a:spcPct val="150000"/>
              </a:lnSpc>
              <a:spcBef>
                <a:spcPts val="785"/>
              </a:spcBef>
              <a:buNone/>
            </a:pPr>
            <a:r>
              <a:rPr lang="en-US" spc="-5" dirty="0">
                <a:solidFill>
                  <a:srgbClr val="292929"/>
                </a:solidFill>
                <a:ea typeface="Georgia" panose="02040502050405020303" pitchFamily="18" charset="0"/>
                <a:cs typeface="+mn-lt"/>
                <a:sym typeface="+mn-ea"/>
              </a:rPr>
              <a:t>The tasks I undertook included: </a:t>
            </a:r>
            <a:endParaRPr lang="en-US" spc="-5" dirty="0">
              <a:solidFill>
                <a:srgbClr val="292929"/>
              </a:solidFill>
              <a:ea typeface="Georgia" panose="02040502050405020303" pitchFamily="18" charset="0"/>
              <a:cs typeface="+mn-lt"/>
            </a:endParaRPr>
          </a:p>
          <a:p>
            <a:pPr marL="349250" marR="521970" indent="-285750">
              <a:lnSpc>
                <a:spcPct val="150000"/>
              </a:lnSpc>
              <a:spcBef>
                <a:spcPts val="785"/>
              </a:spcBef>
            </a:pPr>
            <a:r>
              <a:rPr lang="en-US" spc="-5" dirty="0">
                <a:solidFill>
                  <a:srgbClr val="292929"/>
                </a:solidFill>
                <a:ea typeface="Georgia" panose="02040502050405020303" pitchFamily="18" charset="0"/>
                <a:cs typeface="+mn-lt"/>
                <a:sym typeface="+mn-ea"/>
              </a:rPr>
              <a:t>Analyzing </a:t>
            </a:r>
            <a:r>
              <a:rPr lang="en-US" spc="-5" dirty="0" err="1">
                <a:solidFill>
                  <a:srgbClr val="292929"/>
                </a:solidFill>
                <a:ea typeface="Georgia" panose="02040502050405020303" pitchFamily="18" charset="0"/>
                <a:cs typeface="+mn-lt"/>
                <a:sym typeface="+mn-ea"/>
              </a:rPr>
              <a:t>problem,requirements</a:t>
            </a:r>
            <a:r>
              <a:rPr lang="en-US" spc="-5" dirty="0">
                <a:solidFill>
                  <a:srgbClr val="292929"/>
                </a:solidFill>
                <a:ea typeface="Georgia" panose="02040502050405020303" pitchFamily="18" charset="0"/>
                <a:cs typeface="+mn-lt"/>
                <a:sym typeface="+mn-ea"/>
              </a:rPr>
              <a:t>. </a:t>
            </a:r>
            <a:endParaRPr lang="en-US" spc="-5" dirty="0">
              <a:solidFill>
                <a:srgbClr val="292929"/>
              </a:solidFill>
              <a:ea typeface="Georgia" panose="02040502050405020303" pitchFamily="18" charset="0"/>
              <a:cs typeface="+mn-lt"/>
            </a:endParaRPr>
          </a:p>
          <a:p>
            <a:pPr marL="349250" marR="521970" indent="-285750">
              <a:lnSpc>
                <a:spcPct val="150000"/>
              </a:lnSpc>
              <a:spcBef>
                <a:spcPts val="785"/>
              </a:spcBef>
            </a:pPr>
            <a:r>
              <a:rPr lang="en-US" spc="-5" dirty="0">
                <a:solidFill>
                  <a:srgbClr val="292929"/>
                </a:solidFill>
                <a:ea typeface="Georgia" panose="02040502050405020303" pitchFamily="18" charset="0"/>
                <a:cs typeface="+mn-lt"/>
                <a:sym typeface="+mn-ea"/>
              </a:rPr>
              <a:t>Finding efficient solution to it.</a:t>
            </a:r>
            <a:endParaRPr lang="en-US" spc="-5" dirty="0">
              <a:solidFill>
                <a:srgbClr val="292929"/>
              </a:solidFill>
              <a:ea typeface="Georgia" panose="02040502050405020303" pitchFamily="18" charset="0"/>
              <a:cs typeface="+mn-lt"/>
            </a:endParaRPr>
          </a:p>
          <a:p>
            <a:pPr marL="349250" marR="521970" indent="-285750">
              <a:lnSpc>
                <a:spcPct val="150000"/>
              </a:lnSpc>
              <a:spcBef>
                <a:spcPts val="785"/>
              </a:spcBef>
            </a:pPr>
            <a:r>
              <a:rPr lang="en-US" spc="-5" dirty="0">
                <a:solidFill>
                  <a:srgbClr val="292929"/>
                </a:solidFill>
                <a:ea typeface="Georgia" panose="02040502050405020303" pitchFamily="18" charset="0"/>
                <a:cs typeface="+mn-lt"/>
                <a:sym typeface="+mn-ea"/>
              </a:rPr>
              <a:t> Implementing Task. </a:t>
            </a:r>
            <a:endParaRPr lang="en-US" spc="-5" dirty="0">
              <a:solidFill>
                <a:srgbClr val="292929"/>
              </a:solidFill>
              <a:ea typeface="Georgia" panose="02040502050405020303" pitchFamily="18" charset="0"/>
              <a:cs typeface="+mn-lt"/>
            </a:endParaRPr>
          </a:p>
          <a:p>
            <a:pPr marL="349250" marR="521970" indent="-285750">
              <a:lnSpc>
                <a:spcPct val="150000"/>
              </a:lnSpc>
              <a:spcBef>
                <a:spcPts val="785"/>
              </a:spcBef>
            </a:pPr>
            <a:r>
              <a:rPr lang="en-US" spc="-5" dirty="0">
                <a:solidFill>
                  <a:srgbClr val="292929"/>
                </a:solidFill>
                <a:ea typeface="Georgia" panose="02040502050405020303" pitchFamily="18" charset="0"/>
                <a:cs typeface="+mn-lt"/>
                <a:sym typeface="+mn-ea"/>
              </a:rPr>
              <a:t>Writing articles on Task</a:t>
            </a:r>
            <a:endParaRPr lang="en-US" dirty="0"/>
          </a:p>
        </p:txBody>
      </p:sp>
      <p:sp>
        <p:nvSpPr>
          <p:cNvPr id="2" name="Title 1"/>
          <p:cNvSpPr>
            <a:spLocks noGrp="1"/>
          </p:cNvSpPr>
          <p:nvPr>
            <p:ph type="title"/>
          </p:nvPr>
        </p:nvSpPr>
        <p:spPr>
          <a:xfrm>
            <a:off x="381000" y="609600"/>
            <a:ext cx="8381260" cy="1054394"/>
          </a:xfrm>
        </p:spPr>
        <p:txBody>
          <a:bodyPr/>
          <a:lstStyle/>
          <a:p>
            <a:r>
              <a:rPr lang="en-IN" b="1" dirty="0">
                <a:sym typeface="+mn-ea"/>
              </a:rPr>
              <a:t>Technical Knowledge Gained</a:t>
            </a:r>
            <a:br>
              <a:rPr lang="en-IN" b="1" dirty="0">
                <a:sym typeface="+mn-ea"/>
              </a:rPr>
            </a:br>
            <a:endParaRPr lang="en-US" dirty="0"/>
          </a:p>
        </p:txBody>
      </p:sp>
    </p:spTree>
    <p:extLst>
      <p:ext uri="{BB962C8B-B14F-4D97-AF65-F5344CB8AC3E}">
        <p14:creationId xmlns:p14="http://schemas.microsoft.com/office/powerpoint/2010/main" val="27866280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b="1" dirty="0"/>
              <a:t>Tasks 1</a:t>
            </a:r>
            <a:r>
              <a:rPr lang="en-US" dirty="0"/>
              <a:t> :      </a:t>
            </a:r>
            <a:endParaRPr lang="en-US" dirty="0" smtClean="0"/>
          </a:p>
          <a:p>
            <a:r>
              <a:rPr lang="en-US" dirty="0" smtClean="0"/>
              <a:t> </a:t>
            </a:r>
            <a:r>
              <a:rPr lang="en-US" dirty="0"/>
              <a:t>Write an </a:t>
            </a:r>
            <a:r>
              <a:rPr lang="en-US" dirty="0" err="1"/>
              <a:t>Ansible</a:t>
            </a:r>
            <a:r>
              <a:rPr lang="en-US" dirty="0"/>
              <a:t> playbook that does the following operations in the managed nodes: </a:t>
            </a:r>
            <a:endParaRPr lang="en-US" dirty="0" smtClean="0"/>
          </a:p>
          <a:p>
            <a:r>
              <a:rPr lang="en-US" dirty="0" smtClean="0"/>
              <a:t>• </a:t>
            </a:r>
            <a:r>
              <a:rPr lang="en-US" dirty="0"/>
              <a:t>Configure </a:t>
            </a:r>
            <a:r>
              <a:rPr lang="en-US" dirty="0" err="1"/>
              <a:t>Docker</a:t>
            </a:r>
            <a:r>
              <a:rPr lang="en-US" dirty="0"/>
              <a:t>.  </a:t>
            </a:r>
            <a:endParaRPr lang="en-US" dirty="0" smtClean="0"/>
          </a:p>
          <a:p>
            <a:r>
              <a:rPr lang="en-US" dirty="0" smtClean="0"/>
              <a:t>• </a:t>
            </a:r>
            <a:r>
              <a:rPr lang="en-US" dirty="0"/>
              <a:t>Start and enable </a:t>
            </a:r>
            <a:r>
              <a:rPr lang="en-US" dirty="0" err="1"/>
              <a:t>Docker</a:t>
            </a:r>
            <a:r>
              <a:rPr lang="en-US" dirty="0"/>
              <a:t> services</a:t>
            </a:r>
            <a:r>
              <a:rPr lang="en-US" dirty="0" smtClean="0"/>
              <a:t>.</a:t>
            </a:r>
          </a:p>
          <a:p>
            <a:r>
              <a:rPr lang="en-US" dirty="0" smtClean="0"/>
              <a:t> </a:t>
            </a:r>
            <a:r>
              <a:rPr lang="en-US" dirty="0"/>
              <a:t>• Pull the </a:t>
            </a:r>
            <a:r>
              <a:rPr lang="en-US" dirty="0" err="1"/>
              <a:t>httpd</a:t>
            </a:r>
            <a:r>
              <a:rPr lang="en-US" dirty="0"/>
              <a:t> server image from the </a:t>
            </a:r>
            <a:r>
              <a:rPr lang="en-US" dirty="0" err="1"/>
              <a:t>Docker</a:t>
            </a:r>
            <a:r>
              <a:rPr lang="en-US" dirty="0"/>
              <a:t> Hub. </a:t>
            </a:r>
            <a:endParaRPr lang="en-US" dirty="0" smtClean="0"/>
          </a:p>
          <a:p>
            <a:r>
              <a:rPr lang="en-US" dirty="0" smtClean="0"/>
              <a:t> </a:t>
            </a:r>
            <a:r>
              <a:rPr lang="en-US" dirty="0"/>
              <a:t>• Run the </a:t>
            </a:r>
            <a:r>
              <a:rPr lang="en-US" dirty="0" err="1"/>
              <a:t>httpd</a:t>
            </a:r>
            <a:r>
              <a:rPr lang="en-US" dirty="0"/>
              <a:t> container and expose it to the public. </a:t>
            </a:r>
            <a:endParaRPr lang="en-US" dirty="0" smtClean="0"/>
          </a:p>
          <a:p>
            <a:r>
              <a:rPr lang="en-US" dirty="0" smtClean="0"/>
              <a:t> </a:t>
            </a:r>
            <a:r>
              <a:rPr lang="en-US" dirty="0"/>
              <a:t>• Copy the html code in /</a:t>
            </a:r>
            <a:r>
              <a:rPr lang="en-US" dirty="0" err="1"/>
              <a:t>var</a:t>
            </a:r>
            <a:r>
              <a:rPr lang="en-US" dirty="0"/>
              <a:t>/www/html directory and start the webserver. </a:t>
            </a:r>
            <a:endParaRPr lang="en-US" dirty="0" smtClean="0"/>
          </a:p>
          <a:p>
            <a:r>
              <a:rPr lang="en-US" dirty="0" smtClean="0"/>
              <a:t>Link </a:t>
            </a:r>
            <a:r>
              <a:rPr lang="en-US" dirty="0"/>
              <a:t>: </a:t>
            </a:r>
            <a:r>
              <a:rPr lang="en-US" dirty="0">
                <a:solidFill>
                  <a:srgbClr val="0070C0"/>
                </a:solidFill>
              </a:rPr>
              <a:t>https://github.com/Dhiraj55/Intership_Projects/   </a:t>
            </a:r>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392275729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Task 2:       </a:t>
            </a:r>
          </a:p>
          <a:p>
            <a:r>
              <a:rPr lang="en-US" dirty="0"/>
              <a:t> Deploy Web Server on AWS through ANSIBLE  </a:t>
            </a:r>
            <a:endParaRPr lang="en-US" dirty="0" smtClean="0"/>
          </a:p>
          <a:p>
            <a:r>
              <a:rPr lang="en-US" dirty="0" smtClean="0"/>
              <a:t>• </a:t>
            </a:r>
            <a:r>
              <a:rPr lang="en-US" dirty="0"/>
              <a:t>Provision EC2 instance through </a:t>
            </a:r>
            <a:r>
              <a:rPr lang="en-US" dirty="0" err="1"/>
              <a:t>ansible</a:t>
            </a:r>
            <a:r>
              <a:rPr lang="en-US" dirty="0" smtClean="0"/>
              <a:t>.</a:t>
            </a:r>
          </a:p>
          <a:p>
            <a:r>
              <a:rPr lang="en-US" dirty="0" smtClean="0"/>
              <a:t> </a:t>
            </a:r>
            <a:r>
              <a:rPr lang="en-US" dirty="0"/>
              <a:t>• Retrieve the IP Address of instance using a </a:t>
            </a:r>
            <a:r>
              <a:rPr lang="en-US" dirty="0" err="1"/>
              <a:t>hashtag</a:t>
            </a:r>
            <a:r>
              <a:rPr lang="en-US" dirty="0"/>
              <a:t> #dynamic inventory concept. </a:t>
            </a:r>
            <a:endParaRPr lang="en-US" dirty="0" smtClean="0"/>
          </a:p>
          <a:p>
            <a:r>
              <a:rPr lang="en-US" dirty="0" smtClean="0"/>
              <a:t>• </a:t>
            </a:r>
            <a:r>
              <a:rPr lang="en-US" dirty="0"/>
              <a:t>Configure the webserver through </a:t>
            </a:r>
            <a:r>
              <a:rPr lang="en-US" dirty="0" err="1"/>
              <a:t>ansible</a:t>
            </a:r>
            <a:r>
              <a:rPr lang="en-US" dirty="0"/>
              <a:t>!  </a:t>
            </a:r>
            <a:endParaRPr lang="en-US" dirty="0" smtClean="0"/>
          </a:p>
          <a:p>
            <a:endParaRPr lang="en-US" dirty="0"/>
          </a:p>
          <a:p>
            <a:r>
              <a:rPr lang="en-US" dirty="0"/>
              <a:t>Link: </a:t>
            </a:r>
            <a:r>
              <a:rPr lang="en-US" dirty="0">
                <a:solidFill>
                  <a:srgbClr val="0070C0"/>
                </a:solidFill>
              </a:rPr>
              <a:t>https://github.com/Dhiraj55/Intership_Projects/</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40489856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b="1" dirty="0"/>
              <a:t>Task 3 :    </a:t>
            </a:r>
            <a:endParaRPr lang="en-US" b="1" dirty="0" smtClean="0"/>
          </a:p>
          <a:p>
            <a:r>
              <a:rPr lang="en-US" dirty="0" smtClean="0"/>
              <a:t>Want </a:t>
            </a:r>
            <a:r>
              <a:rPr lang="en-US" dirty="0"/>
              <a:t>to create a </a:t>
            </a:r>
            <a:r>
              <a:rPr lang="en-US" dirty="0" err="1"/>
              <a:t>hadoop</a:t>
            </a:r>
            <a:r>
              <a:rPr lang="en-US" dirty="0"/>
              <a:t> cluster with 50 slaves in one minute. </a:t>
            </a:r>
            <a:endParaRPr lang="en-US" dirty="0" smtClean="0"/>
          </a:p>
          <a:p>
            <a:r>
              <a:rPr lang="en-US" dirty="0" smtClean="0"/>
              <a:t>• </a:t>
            </a:r>
            <a:r>
              <a:rPr lang="en-US" dirty="0"/>
              <a:t>Here </a:t>
            </a:r>
            <a:r>
              <a:rPr lang="en-US" dirty="0" err="1"/>
              <a:t>Ansible</a:t>
            </a:r>
            <a:r>
              <a:rPr lang="en-US" dirty="0"/>
              <a:t> automation comes to my mind . I am interested in using </a:t>
            </a:r>
            <a:r>
              <a:rPr lang="en-US" dirty="0" err="1"/>
              <a:t>Hadoop</a:t>
            </a:r>
            <a:r>
              <a:rPr lang="en-US" dirty="0"/>
              <a:t> to process large sets of data, including use of higher level abstractions. What has surprised me most is that , if i have to connect 50 slaves . In each case I start by manually provisioning some servers and then follow a series of tutorials to manually install and configure a cluster. The typical experience seems to take about a week to setup a cluster (50 slaves). There is often a lot of wasted time to deal with networking and connectivity between hosts.  </a:t>
            </a:r>
            <a:endParaRPr lang="en-US" dirty="0" smtClean="0"/>
          </a:p>
          <a:p>
            <a:r>
              <a:rPr lang="en-US" dirty="0" smtClean="0"/>
              <a:t>• </a:t>
            </a:r>
            <a:r>
              <a:rPr lang="en-US" dirty="0"/>
              <a:t>For all these problems I create an article based on </a:t>
            </a:r>
            <a:r>
              <a:rPr lang="en-US" dirty="0" err="1"/>
              <a:t>ansible</a:t>
            </a:r>
            <a:r>
              <a:rPr lang="en-US" dirty="0"/>
              <a:t> automation . By using </a:t>
            </a:r>
            <a:r>
              <a:rPr lang="en-US" dirty="0" err="1"/>
              <a:t>ansible</a:t>
            </a:r>
            <a:r>
              <a:rPr lang="en-US" dirty="0"/>
              <a:t> within couple of minutes we configure </a:t>
            </a:r>
            <a:r>
              <a:rPr lang="en-US" dirty="0" err="1"/>
              <a:t>hadoop</a:t>
            </a:r>
            <a:r>
              <a:rPr lang="en-US" dirty="0"/>
              <a:t> in 100 slaves . • Also start the </a:t>
            </a:r>
            <a:r>
              <a:rPr lang="en-US" dirty="0" err="1"/>
              <a:t>hadoop</a:t>
            </a:r>
            <a:r>
              <a:rPr lang="en-US" dirty="0"/>
              <a:t> daemon . Not only 50 we also create clusters of more than 100</a:t>
            </a:r>
            <a:r>
              <a:rPr lang="en-US" dirty="0" smtClean="0"/>
              <a:t>.</a:t>
            </a:r>
          </a:p>
          <a:p>
            <a:r>
              <a:rPr lang="en-US" dirty="0" smtClean="0"/>
              <a:t>  </a:t>
            </a:r>
            <a:endParaRPr lang="en-US" dirty="0"/>
          </a:p>
          <a:p>
            <a:r>
              <a:rPr lang="en-US" dirty="0"/>
              <a:t>Link: </a:t>
            </a:r>
            <a:r>
              <a:rPr lang="en-US" dirty="0">
                <a:solidFill>
                  <a:srgbClr val="0070C0"/>
                </a:solidFill>
              </a:rPr>
              <a:t>https://github.com/Dhiraj55/Intership_Projects</a:t>
            </a:r>
            <a:r>
              <a:rPr lang="en-US" dirty="0" smtClean="0"/>
              <a:t>/     </a:t>
            </a:r>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925328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b="1" dirty="0"/>
              <a:t>Task 4 : </a:t>
            </a:r>
            <a:endParaRPr lang="en-US" b="1" dirty="0" smtClean="0"/>
          </a:p>
          <a:p>
            <a:r>
              <a:rPr lang="en-US" dirty="0" smtClean="0"/>
              <a:t>Configuring </a:t>
            </a:r>
            <a:r>
              <a:rPr lang="en-US" dirty="0"/>
              <a:t>Load Balancer on AWS using </a:t>
            </a:r>
            <a:r>
              <a:rPr lang="en-US" dirty="0" err="1"/>
              <a:t>Ansible</a:t>
            </a:r>
            <a:r>
              <a:rPr lang="en-US" dirty="0"/>
              <a:t> with dynamic inventory</a:t>
            </a:r>
            <a:r>
              <a:rPr lang="en-US" dirty="0" smtClean="0"/>
              <a:t>.</a:t>
            </a:r>
          </a:p>
          <a:p>
            <a:r>
              <a:rPr lang="en-US" dirty="0" smtClean="0"/>
              <a:t> </a:t>
            </a:r>
            <a:r>
              <a:rPr lang="en-US" dirty="0"/>
              <a:t>• Provision EC2 instances through </a:t>
            </a:r>
            <a:r>
              <a:rPr lang="en-US" dirty="0" err="1"/>
              <a:t>ansible</a:t>
            </a:r>
            <a:r>
              <a:rPr lang="en-US" dirty="0" smtClean="0"/>
              <a:t>.</a:t>
            </a:r>
          </a:p>
          <a:p>
            <a:r>
              <a:rPr lang="en-US" dirty="0" smtClean="0"/>
              <a:t> </a:t>
            </a:r>
            <a:r>
              <a:rPr lang="en-US" dirty="0"/>
              <a:t>• Retrieve the IP Address of instances using the dynamic inventory concept</a:t>
            </a:r>
            <a:r>
              <a:rPr lang="en-US" dirty="0" smtClean="0"/>
              <a:t>.</a:t>
            </a:r>
          </a:p>
          <a:p>
            <a:r>
              <a:rPr lang="en-US" dirty="0" smtClean="0"/>
              <a:t> </a:t>
            </a:r>
            <a:r>
              <a:rPr lang="en-US" dirty="0"/>
              <a:t>• Configure the web servers through the </a:t>
            </a:r>
            <a:r>
              <a:rPr lang="en-US" dirty="0" err="1"/>
              <a:t>ansible</a:t>
            </a:r>
            <a:r>
              <a:rPr lang="en-US" dirty="0"/>
              <a:t> role</a:t>
            </a:r>
            <a:r>
              <a:rPr lang="en-US" dirty="0" smtClean="0"/>
              <a:t>.</a:t>
            </a:r>
          </a:p>
          <a:p>
            <a:r>
              <a:rPr lang="en-US" dirty="0" smtClean="0"/>
              <a:t> </a:t>
            </a:r>
            <a:r>
              <a:rPr lang="en-US" dirty="0"/>
              <a:t>• Configure the load balancer through the </a:t>
            </a:r>
            <a:r>
              <a:rPr lang="en-US" dirty="0" err="1"/>
              <a:t>ansible</a:t>
            </a:r>
            <a:r>
              <a:rPr lang="en-US" dirty="0"/>
              <a:t> </a:t>
            </a:r>
            <a:r>
              <a:rPr lang="en-US" dirty="0" smtClean="0"/>
              <a:t>role.</a:t>
            </a:r>
          </a:p>
          <a:p>
            <a:r>
              <a:rPr lang="en-US" dirty="0" smtClean="0"/>
              <a:t> • </a:t>
            </a:r>
            <a:r>
              <a:rPr lang="en-US" dirty="0"/>
              <a:t>The target nodes of the load balancer should auto-update as per the status of web servers</a:t>
            </a:r>
            <a:r>
              <a:rPr lang="en-US" dirty="0" smtClean="0"/>
              <a:t>.</a:t>
            </a:r>
          </a:p>
          <a:p>
            <a:r>
              <a:rPr lang="en-US" dirty="0" smtClean="0"/>
              <a:t>  </a:t>
            </a:r>
            <a:endParaRPr lang="en-US" dirty="0"/>
          </a:p>
          <a:p>
            <a:r>
              <a:rPr lang="en-US" dirty="0"/>
              <a:t>Link : </a:t>
            </a:r>
            <a:r>
              <a:rPr lang="en-US" dirty="0">
                <a:solidFill>
                  <a:srgbClr val="0070C0"/>
                </a:solidFill>
              </a:rPr>
              <a:t>https://github.com/Dhiraj55/Intership_Projects</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49814058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ct val="150000"/>
              </a:lnSpc>
              <a:buFont typeface="Wingdings" panose="05000000000000000000" charset="0"/>
              <a:buChar char="ü"/>
            </a:pPr>
            <a:r>
              <a:rPr lang="en-IN" b="1" dirty="0" err="1">
                <a:latin typeface="Calibri" panose="020F0502020204030204" charset="0"/>
                <a:cs typeface="Calibri" panose="020F0502020204030204" charset="0"/>
              </a:rPr>
              <a:t>Ansible</a:t>
            </a:r>
            <a:endParaRPr lang="en-IN" b="1" dirty="0">
              <a:latin typeface="Calibri" panose="020F0502020204030204" charset="0"/>
              <a:cs typeface="Calibri" panose="020F0502020204030204" charset="0"/>
            </a:endParaRPr>
          </a:p>
          <a:p>
            <a:pPr>
              <a:lnSpc>
                <a:spcPct val="150000"/>
              </a:lnSpc>
              <a:buFont typeface="Wingdings" panose="05000000000000000000" charset="0"/>
              <a:buChar char="ü"/>
            </a:pPr>
            <a:r>
              <a:rPr lang="en-IN" b="1" dirty="0">
                <a:latin typeface="Calibri" panose="020F0502020204030204" charset="0"/>
                <a:cs typeface="Calibri" panose="020F0502020204030204" charset="0"/>
              </a:rPr>
              <a:t>Linux</a:t>
            </a:r>
          </a:p>
          <a:p>
            <a:pPr>
              <a:lnSpc>
                <a:spcPct val="150000"/>
              </a:lnSpc>
              <a:buFont typeface="Wingdings" panose="05000000000000000000" charset="0"/>
              <a:buChar char="ü"/>
            </a:pPr>
            <a:r>
              <a:rPr lang="en-IN" b="1" dirty="0">
                <a:latin typeface="Calibri" panose="020F0502020204030204" charset="0"/>
                <a:cs typeface="Calibri" panose="020F0502020204030204" charset="0"/>
              </a:rPr>
              <a:t>Virtual-Box</a:t>
            </a:r>
          </a:p>
          <a:p>
            <a:pPr>
              <a:lnSpc>
                <a:spcPct val="150000"/>
              </a:lnSpc>
              <a:buFont typeface="Wingdings" panose="05000000000000000000" charset="0"/>
              <a:buChar char="ü"/>
            </a:pPr>
            <a:r>
              <a:rPr lang="en-IN" b="1" dirty="0">
                <a:latin typeface="Calibri" panose="020F0502020204030204" charset="0"/>
                <a:cs typeface="Calibri" panose="020F0502020204030204" charset="0"/>
              </a:rPr>
              <a:t>AWS</a:t>
            </a:r>
          </a:p>
          <a:p>
            <a:pPr>
              <a:lnSpc>
                <a:spcPct val="150000"/>
              </a:lnSpc>
              <a:buFont typeface="Wingdings" panose="05000000000000000000" charset="0"/>
              <a:buChar char="ü"/>
            </a:pPr>
            <a:r>
              <a:rPr lang="en-IN" b="1" dirty="0" err="1">
                <a:latin typeface="Calibri" panose="020F0502020204030204" charset="0"/>
                <a:cs typeface="Calibri" panose="020F0502020204030204" charset="0"/>
              </a:rPr>
              <a:t>Docker</a:t>
            </a:r>
            <a:endParaRPr lang="en-IN" b="1" dirty="0">
              <a:latin typeface="Calibri" panose="020F0502020204030204" charset="0"/>
              <a:cs typeface="Calibri" panose="020F0502020204030204" charset="0"/>
            </a:endParaRPr>
          </a:p>
          <a:p>
            <a:pPr>
              <a:lnSpc>
                <a:spcPct val="150000"/>
              </a:lnSpc>
              <a:buFont typeface="Wingdings" panose="05000000000000000000" charset="0"/>
              <a:buChar char="ü"/>
            </a:pPr>
            <a:r>
              <a:rPr lang="en-IN" b="1" dirty="0">
                <a:latin typeface="Calibri" panose="020F0502020204030204" charset="0"/>
                <a:cs typeface="Calibri" panose="020F0502020204030204" charset="0"/>
              </a:rPr>
              <a:t>K8s</a:t>
            </a:r>
          </a:p>
          <a:p>
            <a:pPr>
              <a:lnSpc>
                <a:spcPct val="150000"/>
              </a:lnSpc>
              <a:buFont typeface="Wingdings" panose="05000000000000000000" charset="0"/>
              <a:buChar char="ü"/>
            </a:pPr>
            <a:r>
              <a:rPr lang="en-IN" b="1" dirty="0" err="1">
                <a:latin typeface="Calibri" panose="020F0502020204030204" charset="0"/>
                <a:cs typeface="Calibri" panose="020F0502020204030204" charset="0"/>
              </a:rPr>
              <a:t>Hadoop</a:t>
            </a:r>
            <a:endParaRPr lang="en-IN" b="1" dirty="0">
              <a:latin typeface="Calibri" panose="020F0502020204030204" charset="0"/>
              <a:cs typeface="Calibri" panose="020F0502020204030204" charset="0"/>
            </a:endParaRPr>
          </a:p>
          <a:p>
            <a:pPr>
              <a:lnSpc>
                <a:spcPct val="150000"/>
              </a:lnSpc>
              <a:buFont typeface="Wingdings" panose="05000000000000000000" charset="0"/>
              <a:buChar char="ü"/>
            </a:pPr>
            <a:r>
              <a:rPr lang="en-IN" b="1" dirty="0">
                <a:latin typeface="Calibri" panose="020F0502020204030204" charset="0"/>
                <a:cs typeface="Calibri" panose="020F0502020204030204" charset="0"/>
              </a:rPr>
              <a:t>MYSQL</a:t>
            </a:r>
          </a:p>
          <a:p>
            <a:endParaRPr lang="en-US" dirty="0"/>
          </a:p>
        </p:txBody>
      </p:sp>
      <p:sp>
        <p:nvSpPr>
          <p:cNvPr id="3" name="Title 2"/>
          <p:cNvSpPr>
            <a:spLocks noGrp="1"/>
          </p:cNvSpPr>
          <p:nvPr>
            <p:ph type="title"/>
          </p:nvPr>
        </p:nvSpPr>
        <p:spPr/>
        <p:txBody>
          <a:bodyPr/>
          <a:lstStyle/>
          <a:p>
            <a:r>
              <a:rPr lang="en-US" cap="none" spc="0" dirty="0">
                <a:ln w="0"/>
                <a:effectLst>
                  <a:outerShdw blurRad="38100" dist="19050" dir="2700000" algn="tl" rotWithShape="0">
                    <a:schemeClr val="dk1">
                      <a:alpha val="40000"/>
                    </a:schemeClr>
                  </a:outerShdw>
                </a:effectLst>
              </a:rPr>
              <a:t>Use</a:t>
            </a:r>
            <a:r>
              <a:rPr lang="en-IN" altLang="en-US" cap="none" spc="0" dirty="0">
                <a:ln w="0"/>
                <a:effectLst>
                  <a:outerShdw blurRad="38100" dist="19050" dir="2700000" algn="tl" rotWithShape="0">
                    <a:schemeClr val="dk1">
                      <a:alpha val="40000"/>
                    </a:schemeClr>
                  </a:outerShdw>
                </a:effectLst>
              </a:rPr>
              <a:t>d </a:t>
            </a:r>
            <a:r>
              <a:rPr lang="en-US" cap="none" spc="0" dirty="0">
                <a:ln w="0"/>
                <a:effectLst>
                  <a:outerShdw blurRad="38100" dist="19050" dir="2700000" algn="tl" rotWithShape="0">
                    <a:schemeClr val="dk1">
                      <a:alpha val="40000"/>
                    </a:schemeClr>
                  </a:outerShdw>
                </a:effectLst>
              </a:rPr>
              <a:t>Modern Tools</a:t>
            </a:r>
            <a:r>
              <a:rPr lang="en-US" b="1" cap="none" spc="0" dirty="0">
                <a:ln w="0"/>
                <a:effectLst>
                  <a:outerShdw blurRad="38100" dist="19050" dir="2700000" algn="tl" rotWithShape="0">
                    <a:schemeClr val="dk1">
                      <a:alpha val="40000"/>
                    </a:schemeClr>
                  </a:outerShdw>
                </a:effectLst>
              </a:rPr>
              <a:t> </a:t>
            </a:r>
            <a:endParaRPr lang="en-US" dirty="0"/>
          </a:p>
        </p:txBody>
      </p:sp>
    </p:spTree>
    <p:extLst>
      <p:ext uri="{BB962C8B-B14F-4D97-AF65-F5344CB8AC3E}">
        <p14:creationId xmlns:p14="http://schemas.microsoft.com/office/powerpoint/2010/main" val="6645237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b="8576"/>
          <a:stretch/>
        </p:blipFill>
        <p:spPr>
          <a:xfrm>
            <a:off x="990600" y="2286000"/>
            <a:ext cx="6858000" cy="2715491"/>
          </a:xfrm>
        </p:spPr>
      </p:pic>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53490992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Grid">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Grid">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Grid">
      <a:fillStyleLst>
        <a:solidFill>
          <a:schemeClr val="phClr"/>
        </a:solidFill>
        <a:solidFill>
          <a:schemeClr val="phClr">
            <a:tint val="50000"/>
          </a:schemeClr>
        </a:solidFill>
        <a:gradFill rotWithShape="1">
          <a:gsLst>
            <a:gs pos="0">
              <a:schemeClr val="phClr"/>
            </a:gs>
            <a:gs pos="90000">
              <a:schemeClr val="phClr">
                <a:shade val="100000"/>
              </a:schemeClr>
            </a:gs>
            <a:gs pos="100000">
              <a:schemeClr val="phClr">
                <a:shade val="85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effectStyle>
        <a:effectStyle>
          <a:effectLst>
            <a:outerShdw blurRad="31750" dist="25400" dir="5400000" rotWithShape="0">
              <a:srgbClr val="000000">
                <a:alpha val="50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30000"/>
              </a:schemeClr>
            </a:contourClr>
          </a:sp3d>
        </a:effectStyle>
      </a:effectStyleLst>
      <a:bgFillStyleLst>
        <a:solidFill>
          <a:schemeClr val="phClr"/>
        </a:solidFill>
        <a:solidFill>
          <a:schemeClr val="phClr">
            <a:tint val="90000"/>
            <a:shade val="93000"/>
            <a:satMod val="150000"/>
          </a:schemeClr>
        </a:solidFill>
        <a:blipFill rotWithShape="1">
          <a:blip xmlns:r="http://schemas.openxmlformats.org/officeDocument/2006/relationships" r:embed="rId1">
            <a:duotone>
              <a:schemeClr val="phClr">
                <a:tint val="95000"/>
              </a:schemeClr>
              <a:schemeClr val="phClr">
                <a:shade val="93000"/>
                <a:satMod val="11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Grid</Template>
  <TotalTime>70</TotalTime>
  <Words>888</Words>
  <Application>Microsoft Office PowerPoint</Application>
  <PresentationFormat>On-screen Show (4:3)</PresentationFormat>
  <Paragraphs>70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Grid</vt:lpstr>
      <vt:lpstr>“Automation With Ansible - DevOps”. RH294</vt:lpstr>
      <vt:lpstr>AGENDA </vt:lpstr>
      <vt:lpstr>INTRODUCTION </vt:lpstr>
      <vt:lpstr>Industrial Training Certificate  </vt:lpstr>
      <vt:lpstr>Importance of Industrial Training </vt:lpstr>
      <vt:lpstr>Modules Learned </vt:lpstr>
      <vt:lpstr>PowerPoint Presentation</vt:lpstr>
      <vt:lpstr>Technical Knowledge Gained </vt:lpstr>
      <vt:lpstr>PowerPoint Presentation</vt:lpstr>
      <vt:lpstr>PowerPoint Presentation</vt:lpstr>
      <vt:lpstr>PowerPoint Presentation</vt:lpstr>
      <vt:lpstr>PowerPoint Presentation</vt:lpstr>
      <vt:lpstr>Used Modern Tools </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Rubicon</dc:creator>
  <cp:lastModifiedBy>Rubicon</cp:lastModifiedBy>
  <cp:revision>17</cp:revision>
  <dcterms:created xsi:type="dcterms:W3CDTF">2006-08-16T00:00:00Z</dcterms:created>
  <dcterms:modified xsi:type="dcterms:W3CDTF">2021-11-11T03:25:12Z</dcterms:modified>
</cp:coreProperties>
</file>